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4" r:id="rId11"/>
    <p:sldId id="265" r:id="rId12"/>
    <p:sldId id="263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305" r:id="rId29"/>
    <p:sldId id="284" r:id="rId30"/>
    <p:sldId id="285" r:id="rId31"/>
    <p:sldId id="270" r:id="rId32"/>
    <p:sldId id="287" r:id="rId33"/>
    <p:sldId id="2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0352"/>
  </p:normalViewPr>
  <p:slideViewPr>
    <p:cSldViewPr snapToGrid="0">
      <p:cViewPr varScale="1">
        <p:scale>
          <a:sx n="106" d="100"/>
          <a:sy n="106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A65CA-733B-B34F-9E7D-63FE4D507868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77945-1BD3-4A42-A33D-9C02A77DE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12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5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IN" dirty="0"/>
              <a:t>Instead of writing step-by-step instructions, we give the computer examples (data), and it learns patterns to make predictions or decisions.</a:t>
            </a:r>
          </a:p>
          <a:p>
            <a:pPr marL="228600" indent="-228600">
              <a:buAutoNum type="arabicPeriod"/>
            </a:pPr>
            <a:br>
              <a:rPr lang="en-IN" dirty="0"/>
            </a:br>
            <a:r>
              <a:rPr lang="en-IN" dirty="0"/>
              <a:t>Applications example:</a:t>
            </a:r>
          </a:p>
          <a:p>
            <a:pPr marL="228600" indent="-228600">
              <a:buAutoNum type="arabicPeriod"/>
            </a:pPr>
            <a:r>
              <a:rPr lang="en-IN" dirty="0"/>
              <a:t>Image recognition: a face image is not just a random collection of pixels; a face has structure. It is symmetric. There are the eyes, the nose, the mouth, located in certain places on the face. Each person’s face is a pattern composed of a particular combination of these. By </a:t>
            </a:r>
            <a:r>
              <a:rPr lang="en-IN" dirty="0" err="1"/>
              <a:t>analyzing</a:t>
            </a:r>
            <a:r>
              <a:rPr lang="en-IN" dirty="0"/>
              <a:t> sample face images of a person, a learning program captures the pattern specific to that person and then recognizes by checking for this pattern in a given image. This is one example of pattern recognition.</a:t>
            </a:r>
          </a:p>
          <a:p>
            <a:pPr marL="228600" indent="-228600">
              <a:buAutoNum type="arabicPeriod"/>
            </a:pPr>
            <a:endParaRPr lang="en-IN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04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Basket Analysis problem</a:t>
            </a:r>
          </a:p>
          <a:p>
            <a:r>
              <a:rPr lang="en-IN" dirty="0"/>
              <a:t>Looks for products that are </a:t>
            </a:r>
            <a:r>
              <a:rPr lang="en-IN" b="1" dirty="0"/>
              <a:t>frequently bought together</a:t>
            </a:r>
            <a:r>
              <a:rPr lang="en-IN" dirty="0"/>
              <a:t>.</a:t>
            </a:r>
          </a:p>
          <a:p>
            <a:r>
              <a:rPr lang="en-IN" dirty="0"/>
              <a:t>	Example: Beer 🍺 and Chips 🍟.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9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Customer behavior changes in time and by geographic location. But we know that it is not completely random.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People do not go to supermarkets and buy things at random. When they buy beer, they buy chips; they buy ice cream in summer and2 1 Introduction spices for Glühwein in winter. There are certain patterns in the data.</a:t>
                </a:r>
              </a:p>
              <a:p>
                <a:endParaRPr lang="en-I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dirty="0"/>
                  <a:t>If customers who buy </a:t>
                </a:r>
                <a:r>
                  <a:rPr lang="en-IN" b="1" dirty="0"/>
                  <a:t>X</a:t>
                </a:r>
                <a:r>
                  <a:rPr lang="en-IN" dirty="0"/>
                  <a:t> often also buy </a:t>
                </a:r>
                <a:r>
                  <a:rPr lang="en-IN" b="1" dirty="0"/>
                  <a:t>Y</a:t>
                </a:r>
                <a:r>
                  <a:rPr lang="en-IN" dirty="0"/>
                  <a:t>, then a customer who buys X is a </a:t>
                </a:r>
                <a:r>
                  <a:rPr lang="en-IN" b="1" dirty="0"/>
                  <a:t>potential Y buyer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Store can recommend or promote Y → </a:t>
                </a:r>
                <a:r>
                  <a:rPr lang="en-IN" b="1" dirty="0"/>
                  <a:t>cross-selling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Association Rule</a:t>
                </a:r>
                <a:endParaRPr lang="en-IN" dirty="0"/>
              </a:p>
              <a:p>
                <a:r>
                  <a:rPr lang="en-IN" dirty="0"/>
                  <a:t>Expressed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⟹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𝑌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(If X is bought, Y is also likely to be bought).</a:t>
                </a:r>
              </a:p>
              <a:p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Customer behavior changes in time and by geographic location. But we know that it is not completely random.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People do not go to supermarkets and buy things at random. When they buy beer, they buy chips; they buy ice cream in summer and2 1 Introduction spices for Glühwein in winter. There are certain patterns in the data.</a:t>
                </a:r>
              </a:p>
              <a:p>
                <a:endParaRPr lang="en-I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dirty="0"/>
                  <a:t>If customers who buy </a:t>
                </a:r>
                <a:r>
                  <a:rPr lang="en-IN" b="1" dirty="0"/>
                  <a:t>X</a:t>
                </a:r>
                <a:r>
                  <a:rPr lang="en-IN" dirty="0"/>
                  <a:t> often also buy </a:t>
                </a:r>
                <a:r>
                  <a:rPr lang="en-IN" b="1" dirty="0"/>
                  <a:t>Y</a:t>
                </a:r>
                <a:r>
                  <a:rPr lang="en-IN" dirty="0"/>
                  <a:t>, then a customer who buys X is a </a:t>
                </a:r>
                <a:r>
                  <a:rPr lang="en-IN" b="1" dirty="0"/>
                  <a:t>potential Y buyer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Store can recommend or promote Y → </a:t>
                </a:r>
                <a:r>
                  <a:rPr lang="en-IN" b="1" dirty="0"/>
                  <a:t>cross-selling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Association Rule</a:t>
                </a:r>
                <a:endParaRPr lang="en-IN" dirty="0"/>
              </a:p>
              <a:p>
                <a:r>
                  <a:rPr lang="en-IN" dirty="0"/>
                  <a:t>Expressed as: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"⟹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𝑌</a:t>
                </a:r>
                <a:endParaRPr lang="en-IN" b="0" dirty="0"/>
              </a:p>
              <a:p>
                <a:r>
                  <a:rPr lang="en-IN" dirty="0"/>
                  <a:t>(If X is bought, Y is also likely to be bought).</a:t>
                </a:r>
              </a:p>
              <a:p>
                <a:endParaRPr lang="en-IN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61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How it is Used</a:t>
            </a:r>
            <a:endParaRPr lang="en-IN" dirty="0"/>
          </a:p>
          <a:p>
            <a:r>
              <a:rPr lang="en-IN" dirty="0"/>
              <a:t>Identify </a:t>
            </a:r>
            <a:r>
              <a:rPr lang="en-IN" b="1" dirty="0"/>
              <a:t>cross-selling opportunities</a:t>
            </a:r>
            <a:r>
              <a:rPr lang="en-IN" dirty="0"/>
              <a:t> (recommend chips when someone buys beer).</a:t>
            </a:r>
          </a:p>
          <a:p>
            <a:r>
              <a:rPr lang="en-IN" dirty="0"/>
              <a:t>Design </a:t>
            </a:r>
            <a:r>
              <a:rPr lang="en-IN" b="1" dirty="0"/>
              <a:t>promotions</a:t>
            </a:r>
            <a:r>
              <a:rPr lang="en-IN" dirty="0"/>
              <a:t> (bundle products together).</a:t>
            </a:r>
          </a:p>
          <a:p>
            <a:r>
              <a:rPr lang="en-IN" dirty="0"/>
              <a:t>Improve </a:t>
            </a:r>
            <a:r>
              <a:rPr lang="en-IN" b="1" dirty="0"/>
              <a:t>store layout</a:t>
            </a:r>
            <a:r>
              <a:rPr lang="en-IN" dirty="0"/>
              <a:t> (place associated items close together).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69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IN" b="1" dirty="0"/>
              <a:t>Solving Complex Business Problems : </a:t>
            </a:r>
            <a:r>
              <a:rPr lang="en-IN" b="1" dirty="0" err="1"/>
              <a:t>eg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speech recognition in healthcare.</a:t>
            </a: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 translation and sentiment analysis.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Handling Large Volumes of Data</a:t>
            </a: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internet generates huge amounts of data every day. Machine Learning processes and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data quickly by providing valuable insights and real-time predictions.</a:t>
            </a:r>
          </a:p>
          <a:p>
            <a:pPr rtl="0" fontAlgn="base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Fraud detection in financial transactions.</a:t>
            </a: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Personalized feed recommendations on Facebook and Instagram from billions of interactions.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 Repetitive Tasks</a:t>
            </a:r>
          </a:p>
          <a:p>
            <a:pPr rtl="0"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 automates time-consuming, repetitive tasks with high accuracy hence reducing manual work and errors.</a:t>
            </a:r>
          </a:p>
          <a:p>
            <a:pPr rtl="0" fontAlgn="base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Gmail filtering spam emails automatically.</a:t>
            </a: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Chatbots handling order tracking and password resets.</a:t>
            </a: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Automating large-scale invoice analysis for key insights.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Personalized User Experience</a:t>
            </a:r>
          </a:p>
          <a:p>
            <a:pPr rtl="0"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 enhances user experience by tailoring recommendations to individual preferences. It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deliver highly relevant content.</a:t>
            </a:r>
          </a:p>
          <a:p>
            <a:pPr rtl="0" fontAlgn="base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Netflix suggesting movies and TV shows based on our viewing history.</a:t>
            </a:r>
          </a:p>
          <a:p>
            <a:pPr fontAlgn="base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E-commerce sites recommending products we're likely to buy.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11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Human Ability</a:t>
            </a:r>
            <a:endParaRPr lang="en-IN" dirty="0"/>
          </a:p>
          <a:p>
            <a:r>
              <a:rPr lang="en-IN" dirty="0"/>
              <a:t>We see family and friends’ faces daily.</a:t>
            </a:r>
          </a:p>
          <a:p>
            <a:r>
              <a:rPr lang="en-IN" dirty="0"/>
              <a:t>Recognition happens even when:</a:t>
            </a:r>
          </a:p>
          <a:p>
            <a:pPr lvl="1"/>
            <a:r>
              <a:rPr lang="en-IN" dirty="0"/>
              <a:t>Pose is different</a:t>
            </a:r>
          </a:p>
          <a:p>
            <a:pPr lvl="1"/>
            <a:r>
              <a:rPr lang="en-IN" dirty="0"/>
              <a:t>Lighting changes</a:t>
            </a:r>
          </a:p>
          <a:p>
            <a:pPr lvl="1"/>
            <a:r>
              <a:rPr lang="en-IN" dirty="0"/>
              <a:t>Hair style changes</a:t>
            </a:r>
          </a:p>
          <a:p>
            <a:r>
              <a:rPr lang="en-IN" dirty="0"/>
              <a:t>But we do this </a:t>
            </a:r>
            <a:r>
              <a:rPr lang="en-IN" b="1" dirty="0"/>
              <a:t>unconsciously</a:t>
            </a:r>
            <a:r>
              <a:rPr lang="en-IN" dirty="0"/>
              <a:t> (we can’t explain how exactly).</a:t>
            </a:r>
          </a:p>
          <a:p>
            <a:r>
              <a:rPr lang="en-IN" b="1" dirty="0"/>
              <a:t>Challenge for Computers</a:t>
            </a:r>
            <a:endParaRPr lang="en-IN" dirty="0"/>
          </a:p>
          <a:p>
            <a:r>
              <a:rPr lang="en-IN" dirty="0"/>
              <a:t>Since humans can’t explain the exact step-by-step process, it’s hard to </a:t>
            </a:r>
            <a:r>
              <a:rPr lang="en-IN" b="1" dirty="0"/>
              <a:t>write an explicit program</a:t>
            </a:r>
            <a:r>
              <a:rPr lang="en-IN" dirty="0"/>
              <a:t> for face recognition.</a:t>
            </a:r>
          </a:p>
          <a:p>
            <a:r>
              <a:rPr lang="en-IN" b="1" dirty="0"/>
              <a:t>Key Idea</a:t>
            </a:r>
            <a:endParaRPr lang="en-IN" dirty="0"/>
          </a:p>
          <a:p>
            <a:r>
              <a:rPr lang="en-IN" dirty="0"/>
              <a:t>A face is </a:t>
            </a:r>
            <a:r>
              <a:rPr lang="en-IN" b="1" dirty="0"/>
              <a:t>not just random pixels</a:t>
            </a:r>
            <a:r>
              <a:rPr lang="en-IN" dirty="0"/>
              <a:t>; it has a </a:t>
            </a:r>
            <a:r>
              <a:rPr lang="en-IN" b="1" dirty="0"/>
              <a:t>structure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Symmetry</a:t>
            </a:r>
          </a:p>
          <a:p>
            <a:pPr lvl="1"/>
            <a:r>
              <a:rPr lang="en-IN" dirty="0"/>
              <a:t>Eyes, nose, mouth appear in fixed relative positions.</a:t>
            </a:r>
          </a:p>
          <a:p>
            <a:r>
              <a:rPr lang="en-IN" b="1" dirty="0"/>
              <a:t>Individual Patterns</a:t>
            </a:r>
            <a:endParaRPr lang="en-IN" dirty="0"/>
          </a:p>
          <a:p>
            <a:r>
              <a:rPr lang="en-IN" dirty="0"/>
              <a:t>Each person’s face is a </a:t>
            </a:r>
            <a:r>
              <a:rPr lang="en-IN" b="1" dirty="0"/>
              <a:t>unique combination</a:t>
            </a:r>
            <a:r>
              <a:rPr lang="en-IN" dirty="0"/>
              <a:t> of these features.</a:t>
            </a:r>
          </a:p>
          <a:p>
            <a:r>
              <a:rPr lang="en-IN" dirty="0"/>
              <a:t>Example: Distance between eyes, shape of nose, curve of lips.</a:t>
            </a:r>
          </a:p>
          <a:p>
            <a:r>
              <a:rPr lang="en-IN" b="1" dirty="0"/>
              <a:t>Machine Learning Approach</a:t>
            </a:r>
            <a:endParaRPr lang="en-IN" dirty="0"/>
          </a:p>
          <a:p>
            <a:r>
              <a:rPr lang="en-IN" dirty="0"/>
              <a:t>Collect </a:t>
            </a:r>
            <a:r>
              <a:rPr lang="en-IN" b="1" dirty="0"/>
              <a:t>sample face images</a:t>
            </a:r>
            <a:r>
              <a:rPr lang="en-IN" dirty="0"/>
              <a:t> of a person.</a:t>
            </a:r>
          </a:p>
          <a:p>
            <a:r>
              <a:rPr lang="en-IN" dirty="0"/>
              <a:t>The ML model learns the </a:t>
            </a:r>
            <a:r>
              <a:rPr lang="en-IN" b="1" dirty="0"/>
              <a:t>pattern specific to that person</a:t>
            </a:r>
            <a:r>
              <a:rPr lang="en-IN" dirty="0"/>
              <a:t>.</a:t>
            </a:r>
          </a:p>
          <a:p>
            <a:r>
              <a:rPr lang="en-IN" dirty="0"/>
              <a:t>Later, given a new image, the model checks:</a:t>
            </a:r>
          </a:p>
          <a:p>
            <a:pPr lvl="1"/>
            <a:r>
              <a:rPr lang="en-IN" dirty="0"/>
              <a:t>Does this image match the learned pattern?</a:t>
            </a:r>
          </a:p>
          <a:p>
            <a:r>
              <a:rPr lang="en-IN" b="1" dirty="0"/>
              <a:t>Application</a:t>
            </a:r>
            <a:endParaRPr lang="en-IN" dirty="0"/>
          </a:p>
          <a:p>
            <a:r>
              <a:rPr lang="en-IN" dirty="0"/>
              <a:t>This is an example of </a:t>
            </a:r>
            <a:r>
              <a:rPr lang="en-IN" b="1" dirty="0"/>
              <a:t>Pattern Recognition</a:t>
            </a:r>
            <a:r>
              <a:rPr lang="en-IN" dirty="0"/>
              <a:t> (finding and identifying patterns in data).</a:t>
            </a:r>
          </a:p>
          <a:p>
            <a:r>
              <a:rPr lang="en-IN" dirty="0"/>
              <a:t>Used in:</a:t>
            </a:r>
          </a:p>
          <a:p>
            <a:pPr lvl="1"/>
            <a:r>
              <a:rPr lang="en-IN" dirty="0"/>
              <a:t>Phone unlocking (Face ID)</a:t>
            </a:r>
          </a:p>
          <a:p>
            <a:pPr lvl="1"/>
            <a:r>
              <a:rPr lang="en-IN" dirty="0"/>
              <a:t>Security systems (CCTV)</a:t>
            </a:r>
          </a:p>
          <a:p>
            <a:pPr lvl="1"/>
            <a:r>
              <a:rPr lang="en-IN" dirty="0"/>
              <a:t>Social media photo tagging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43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Writing a manual program to handle all these variations is impossible.</a:t>
            </a:r>
          </a:p>
          <a:p>
            <a:r>
              <a:rPr lang="en-IN" b="1" dirty="0"/>
              <a:t>Example : </a:t>
            </a:r>
            <a:r>
              <a:rPr lang="en-IN" b="1" dirty="0" err="1"/>
              <a:t>alexa</a:t>
            </a:r>
            <a:endParaRPr lang="en-IN" dirty="0"/>
          </a:p>
          <a:p>
            <a:r>
              <a:rPr lang="en-IN" dirty="0"/>
              <a:t>User says: “Play music.”</a:t>
            </a:r>
          </a:p>
          <a:p>
            <a:r>
              <a:rPr lang="en-IN" dirty="0"/>
              <a:t>System converts audio → text → command.</a:t>
            </a:r>
          </a:p>
          <a:p>
            <a:r>
              <a:rPr lang="en-IN" dirty="0"/>
              <a:t>The model recognizes the </a:t>
            </a:r>
            <a:r>
              <a:rPr lang="en-IN" b="1" dirty="0"/>
              <a:t>pattern of sounds</a:t>
            </a:r>
            <a:r>
              <a:rPr lang="en-IN" dirty="0"/>
              <a:t> matching the words “play” and “music.”</a:t>
            </a:r>
          </a:p>
          <a:p>
            <a:r>
              <a:rPr lang="en-IN" dirty="0"/>
              <a:t>The assistant starts the music app.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20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600" dirty="0"/>
              <a:t>Goal: Learn the mapping from inputs → output, so that it can predict outputs for new inputs.</a:t>
            </a:r>
          </a:p>
          <a:p>
            <a:r>
              <a:rPr lang="en-I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 a teacher guiding a student through a textbook. The teacher knows the correct answers (the target labels), and the student(model) learns by comparing their answers (predictions) to the teacher's.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25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:</a:t>
            </a:r>
            <a:r>
              <a:rPr lang="en-IN" dirty="0"/>
              <a:t>you want to predict </a:t>
            </a:r>
            <a:r>
              <a:rPr lang="en-IN" b="1" dirty="0"/>
              <a:t>house price</a:t>
            </a:r>
            <a:r>
              <a:rPr lang="en-IN" dirty="0"/>
              <a:t>, the input features could be:</a:t>
            </a:r>
          </a:p>
          <a:p>
            <a:r>
              <a:rPr lang="en-IN" dirty="0"/>
              <a:t>Size of the house (</a:t>
            </a:r>
            <a:r>
              <a:rPr lang="en-IN" dirty="0" err="1"/>
              <a:t>sq.ft</a:t>
            </a:r>
            <a:r>
              <a:rPr lang="en-IN" dirty="0"/>
              <a:t>)</a:t>
            </a:r>
          </a:p>
          <a:p>
            <a:r>
              <a:rPr lang="en-IN" dirty="0"/>
              <a:t>Number of rooms</a:t>
            </a:r>
          </a:p>
          <a:p>
            <a:r>
              <a:rPr lang="en-IN" dirty="0"/>
              <a:t>Location</a:t>
            </a:r>
          </a:p>
          <a:p>
            <a:r>
              <a:rPr lang="en-IN" dirty="0"/>
              <a:t>Age of the house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74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4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dirty="0"/>
              <a:t>D</a:t>
            </a:r>
            <a:r>
              <a:rPr lang="en-IN" dirty="0"/>
              <a:t>etermining if a customer review is "positive" or "negative”- </a:t>
            </a:r>
            <a:r>
              <a:rPr lang="en-IN" b="1" dirty="0"/>
              <a:t>Sentiment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84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IN" dirty="0"/>
              <a:t>In </a:t>
            </a:r>
            <a:r>
              <a:rPr lang="en-IN" b="1" dirty="0"/>
              <a:t>unsupervised learning</a:t>
            </a:r>
            <a:r>
              <a:rPr lang="en-IN" dirty="0"/>
              <a:t>, the dataset has </a:t>
            </a:r>
            <a:r>
              <a:rPr lang="en-IN" b="1" dirty="0"/>
              <a:t>only input features (X)</a:t>
            </a:r>
            <a:r>
              <a:rPr lang="en-IN" dirty="0"/>
              <a:t>, but </a:t>
            </a:r>
            <a:r>
              <a:rPr lang="en-IN" b="1" dirty="0"/>
              <a:t>no target/output (y)</a:t>
            </a:r>
            <a:r>
              <a:rPr lang="en-IN" dirty="0"/>
              <a:t>.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arenR"/>
            </a:pP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 find regularities, patterns, or structure in the data</a:t>
            </a:r>
          </a:p>
          <a:p>
            <a:r>
              <a:rPr lang="en-IN" dirty="0"/>
              <a:t>3) Only input data is given.</a:t>
            </a:r>
          </a:p>
          <a:p>
            <a:endParaRPr lang="en-IN" dirty="0"/>
          </a:p>
          <a:p>
            <a:r>
              <a:rPr lang="en-IN" dirty="0"/>
              <a:t>Density estimation:</a:t>
            </a:r>
            <a:br>
              <a:rPr lang="en-IN" dirty="0"/>
            </a:br>
            <a:r>
              <a:rPr lang="en-IN" dirty="0"/>
              <a:t>If you plot data, some regions will have many points (high density), and others will have fewer (low density).</a:t>
            </a:r>
          </a:p>
          <a:p>
            <a:r>
              <a:rPr lang="en-IN" dirty="0"/>
              <a:t>Density estimation helps us </a:t>
            </a:r>
            <a:r>
              <a:rPr lang="en-IN" b="1" dirty="0"/>
              <a:t>model this distribution</a:t>
            </a:r>
            <a:r>
              <a:rPr lang="en-IN" dirty="0"/>
              <a:t> mathematically.</a:t>
            </a:r>
          </a:p>
          <a:p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91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Why is it useful?</a:t>
            </a:r>
          </a:p>
          <a:p>
            <a:r>
              <a:rPr lang="en-IN" b="1" dirty="0"/>
              <a:t>Anomaly Detection:</a:t>
            </a:r>
            <a:r>
              <a:rPr lang="en-IN" dirty="0"/>
              <a:t> Detect unusual events (fraud in banking, defective products).</a:t>
            </a:r>
          </a:p>
          <a:p>
            <a:r>
              <a:rPr lang="en-IN" b="1" dirty="0"/>
              <a:t>Clustering:</a:t>
            </a:r>
            <a:r>
              <a:rPr lang="en-IN" dirty="0"/>
              <a:t> Helps group data points by density.</a:t>
            </a:r>
          </a:p>
          <a:p>
            <a:r>
              <a:rPr lang="en-IN" b="1" dirty="0"/>
              <a:t>Data Generation:</a:t>
            </a:r>
            <a:r>
              <a:rPr lang="en-IN" dirty="0"/>
              <a:t> Used in generative models (GANs, VAEs).</a:t>
            </a:r>
          </a:p>
          <a:p>
            <a:r>
              <a:rPr lang="en-IN" b="1" dirty="0"/>
              <a:t>Visualization:</a:t>
            </a:r>
            <a:r>
              <a:rPr lang="en-IN" dirty="0"/>
              <a:t> To understand how data is spread.</a:t>
            </a:r>
          </a:p>
          <a:p>
            <a:endParaRPr lang="en-IN" dirty="0"/>
          </a:p>
          <a:p>
            <a:r>
              <a:rPr lang="en-IN" dirty="0"/>
              <a:t>Example: Imagine exam marks of 100 students:</a:t>
            </a:r>
          </a:p>
          <a:p>
            <a:endParaRPr lang="en-IN" dirty="0"/>
          </a:p>
          <a:p>
            <a:r>
              <a:rPr lang="en-IN" dirty="0"/>
              <a:t>Most students scored between 60–80 → </a:t>
            </a:r>
            <a:r>
              <a:rPr lang="en-IN" b="1" dirty="0"/>
              <a:t>high-density region</a:t>
            </a:r>
            <a:r>
              <a:rPr lang="en-IN" dirty="0"/>
              <a:t>.</a:t>
            </a:r>
          </a:p>
          <a:p>
            <a:r>
              <a:rPr lang="en-IN" dirty="0"/>
              <a:t>Few scored below 30 or above 90 → </a:t>
            </a:r>
            <a:r>
              <a:rPr lang="en-IN" b="1" dirty="0"/>
              <a:t>low-density region (outliers)</a:t>
            </a:r>
            <a:r>
              <a:rPr lang="en-IN" dirty="0"/>
              <a:t>.</a:t>
            </a:r>
          </a:p>
          <a:p>
            <a:r>
              <a:rPr lang="en-IN" dirty="0"/>
              <a:t>A </a:t>
            </a:r>
            <a:r>
              <a:rPr lang="en-IN" b="1" dirty="0"/>
              <a:t>density estimation curve</a:t>
            </a:r>
            <a:r>
              <a:rPr lang="en-IN" dirty="0"/>
              <a:t> will show this distribution instead of just listing marks.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Parametric Density Estimation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statistical technique used to estimate the probability distribution of a dataset by assuming that the data follows a specific distribution with a set of parameters.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22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book:</a:t>
            </a:r>
          </a:p>
          <a:p>
            <a:r>
              <a:rPr lang="en-IN" dirty="0"/>
              <a:t>Customer segmentation is the process of dividing customers into </a:t>
            </a:r>
            <a:r>
              <a:rPr lang="en-IN" b="1" dirty="0"/>
              <a:t>different groups (segments)</a:t>
            </a:r>
            <a:r>
              <a:rPr lang="en-IN" dirty="0"/>
              <a:t> based on </a:t>
            </a:r>
            <a:r>
              <a:rPr lang="en-IN" b="1" dirty="0"/>
              <a:t>similar characteristics</a:t>
            </a:r>
            <a:r>
              <a:rPr lang="en-IN" dirty="0"/>
              <a:t>.</a:t>
            </a:r>
          </a:p>
          <a:p>
            <a:r>
              <a:rPr lang="en-IN" dirty="0"/>
              <a:t>Goal: Understand customers better and design targeted marketing strategies.</a:t>
            </a:r>
          </a:p>
          <a:p>
            <a:r>
              <a:rPr lang="en-IN" b="1" dirty="0"/>
              <a:t>Why do we need it?</a:t>
            </a:r>
          </a:p>
          <a:p>
            <a:r>
              <a:rPr lang="en-IN" dirty="0"/>
              <a:t>Not all customers are the same.</a:t>
            </a:r>
          </a:p>
          <a:p>
            <a:r>
              <a:rPr lang="en-IN" dirty="0"/>
              <a:t>Some buy frequently, some rarely.</a:t>
            </a:r>
          </a:p>
          <a:p>
            <a:r>
              <a:rPr lang="en-IN" dirty="0"/>
              <a:t>Some prefer discounts, others prefer premium products.</a:t>
            </a:r>
          </a:p>
          <a:p>
            <a:r>
              <a:rPr lang="en-IN" dirty="0"/>
              <a:t>By segmenting customers, businesses can:</a:t>
            </a:r>
          </a:p>
          <a:p>
            <a:pPr lvl="1"/>
            <a:r>
              <a:rPr lang="en-IN" dirty="0"/>
              <a:t>Improve marketing campaigns</a:t>
            </a:r>
          </a:p>
          <a:p>
            <a:pPr lvl="1"/>
            <a:r>
              <a:rPr lang="en-IN" dirty="0"/>
              <a:t>Personalize offers</a:t>
            </a:r>
          </a:p>
          <a:p>
            <a:pPr lvl="1"/>
            <a:r>
              <a:rPr lang="en-IN" dirty="0"/>
              <a:t>Increase sales and customer satisfaction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901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Cluster </a:t>
            </a:r>
            <a:r>
              <a:rPr lang="en-IN" dirty="0" err="1"/>
              <a:t>colors</a:t>
            </a:r>
            <a:r>
              <a:rPr lang="en-IN" dirty="0"/>
              <a:t> into a small number of groups.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Replace each pixel’s </a:t>
            </a:r>
            <a:r>
              <a:rPr lang="en-IN" dirty="0" err="1"/>
              <a:t>color</a:t>
            </a:r>
            <a:r>
              <a:rPr lang="en-IN" dirty="0"/>
              <a:t> with the </a:t>
            </a:r>
            <a:r>
              <a:rPr lang="en-IN" b="1" dirty="0"/>
              <a:t>nearest cluster </a:t>
            </a:r>
            <a:r>
              <a:rPr lang="en-IN" b="1" dirty="0" err="1"/>
              <a:t>center</a:t>
            </a:r>
            <a:r>
              <a:rPr lang="en-IN" b="1" dirty="0"/>
              <a:t> (representative </a:t>
            </a:r>
            <a:r>
              <a:rPr lang="en-IN" b="1" dirty="0" err="1"/>
              <a:t>color</a:t>
            </a:r>
            <a:r>
              <a:rPr lang="en-IN" b="1" dirty="0"/>
              <a:t>)</a:t>
            </a:r>
            <a:r>
              <a:rPr lang="en-IN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Used in </a:t>
            </a:r>
            <a:r>
              <a:rPr lang="en-IN" b="1" dirty="0"/>
              <a:t>JPEG compression</a:t>
            </a:r>
            <a:r>
              <a:rPr lang="en-IN" dirty="0"/>
              <a:t>, </a:t>
            </a:r>
            <a:r>
              <a:rPr lang="en-IN" b="1" dirty="0"/>
              <a:t>web images</a:t>
            </a:r>
            <a:r>
              <a:rPr lang="en-IN" dirty="0"/>
              <a:t>, and </a:t>
            </a:r>
            <a:r>
              <a:rPr lang="en-IN" b="1" dirty="0"/>
              <a:t>mobile apps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9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Bag of Words (</a:t>
            </a:r>
            <a:r>
              <a:rPr lang="en-IN" b="1" dirty="0" err="1"/>
              <a:t>BoW</a:t>
            </a:r>
            <a:r>
              <a:rPr lang="en-IN" b="1" dirty="0"/>
              <a:t>), Stemming, and Lemmatization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1. Bag of Words (</a:t>
            </a:r>
            <a:r>
              <a:rPr lang="en-IN" b="1" dirty="0" err="1"/>
              <a:t>BoW</a:t>
            </a:r>
            <a:r>
              <a:rPr lang="en-IN" b="1" dirty="0"/>
              <a:t>)</a:t>
            </a:r>
          </a:p>
          <a:p>
            <a:r>
              <a:rPr lang="en-IN" dirty="0"/>
              <a:t>A simple way to represent text as </a:t>
            </a:r>
            <a:r>
              <a:rPr lang="en-IN" b="1" dirty="0"/>
              <a:t>numerical features</a:t>
            </a:r>
            <a:r>
              <a:rPr lang="en-IN" dirty="0"/>
              <a:t>.</a:t>
            </a:r>
          </a:p>
          <a:p>
            <a:r>
              <a:rPr lang="en-IN" dirty="0"/>
              <a:t>Treats each document as a </a:t>
            </a:r>
            <a:r>
              <a:rPr lang="en-IN" b="1" dirty="0"/>
              <a:t>bag (set) of words</a:t>
            </a:r>
            <a:r>
              <a:rPr lang="en-IN" dirty="0"/>
              <a:t>, ignoring order and grammar.</a:t>
            </a:r>
          </a:p>
          <a:p>
            <a:r>
              <a:rPr lang="en-IN" dirty="0"/>
              <a:t>Focuses only on </a:t>
            </a:r>
            <a:r>
              <a:rPr lang="en-IN" b="1" dirty="0"/>
              <a:t>word frequency</a:t>
            </a:r>
            <a:r>
              <a:rPr lang="en-IN" dirty="0"/>
              <a:t>.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Two sentences:</a:t>
            </a:r>
          </a:p>
          <a:p>
            <a:r>
              <a:rPr lang="en-IN" dirty="0"/>
              <a:t>“I love machine learning.”</a:t>
            </a:r>
          </a:p>
          <a:p>
            <a:r>
              <a:rPr lang="en-IN" dirty="0"/>
              <a:t>“Machine learning is fun.”</a:t>
            </a:r>
          </a:p>
          <a:p>
            <a:r>
              <a:rPr lang="en-IN" dirty="0"/>
              <a:t>Vocabulary = {I, love, machine, learning, is, fun}</a:t>
            </a:r>
          </a:p>
          <a:p>
            <a:r>
              <a:rPr lang="en-IN" dirty="0"/>
              <a:t>Document 1 → [1,1,1,1,0,0]</a:t>
            </a:r>
          </a:p>
          <a:p>
            <a:r>
              <a:rPr lang="en-IN" dirty="0"/>
              <a:t>Document 2 → [0,0,1,1,1,1]</a:t>
            </a:r>
          </a:p>
          <a:p>
            <a:r>
              <a:rPr lang="en-IN" dirty="0"/>
              <a:t>👉 Each document is turned into a vector.</a:t>
            </a:r>
          </a:p>
          <a:p>
            <a:r>
              <a:rPr lang="en-IN" b="1" dirty="0"/>
              <a:t>Pros:</a:t>
            </a:r>
            <a:r>
              <a:rPr lang="en-IN" dirty="0"/>
              <a:t> Simple, effective.</a:t>
            </a:r>
            <a:br>
              <a:rPr lang="en-IN" dirty="0"/>
            </a:br>
            <a:r>
              <a:rPr lang="en-IN" b="1" dirty="0"/>
              <a:t>Cons:</a:t>
            </a:r>
            <a:r>
              <a:rPr lang="en-IN" dirty="0"/>
              <a:t> Ignores word order and meaning.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Stemming</a:t>
            </a:r>
          </a:p>
          <a:p>
            <a:r>
              <a:rPr lang="en-IN" dirty="0"/>
              <a:t>Process of reducing words to their </a:t>
            </a:r>
            <a:r>
              <a:rPr lang="en-IN" b="1" dirty="0"/>
              <a:t>root form</a:t>
            </a:r>
            <a:r>
              <a:rPr lang="en-IN" dirty="0"/>
              <a:t> by chopping off endings.</a:t>
            </a:r>
          </a:p>
          <a:p>
            <a:r>
              <a:rPr lang="en-IN" dirty="0"/>
              <a:t>Example:</a:t>
            </a:r>
          </a:p>
          <a:p>
            <a:pPr lvl="1"/>
            <a:r>
              <a:rPr lang="en-IN" dirty="0"/>
              <a:t>“playing” → “play”</a:t>
            </a:r>
          </a:p>
          <a:p>
            <a:pPr lvl="1"/>
            <a:r>
              <a:rPr lang="en-IN" dirty="0"/>
              <a:t>“played” → “play”</a:t>
            </a:r>
          </a:p>
          <a:p>
            <a:pPr lvl="1"/>
            <a:r>
              <a:rPr lang="en-IN" dirty="0"/>
              <a:t>“player” → “play”</a:t>
            </a:r>
          </a:p>
          <a:p>
            <a:r>
              <a:rPr lang="en-IN" dirty="0"/>
              <a:t>⚠️ It’s a </a:t>
            </a:r>
            <a:r>
              <a:rPr lang="en-IN" b="1" dirty="0"/>
              <a:t>rule-based crude method</a:t>
            </a:r>
            <a:r>
              <a:rPr lang="en-IN" dirty="0"/>
              <a:t> (sometimes gives non-dictionary roots).</a:t>
            </a:r>
          </a:p>
          <a:p>
            <a:r>
              <a:rPr lang="en-IN" dirty="0"/>
              <a:t>Example: “studies” → “</a:t>
            </a:r>
            <a:r>
              <a:rPr lang="en-IN" dirty="0" err="1"/>
              <a:t>studi</a:t>
            </a:r>
            <a:r>
              <a:rPr lang="en-IN" dirty="0"/>
              <a:t>”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3. Lemmatization</a:t>
            </a:r>
          </a:p>
          <a:p>
            <a:r>
              <a:rPr lang="en-IN" dirty="0"/>
              <a:t>More advanced than stemming.</a:t>
            </a:r>
          </a:p>
          <a:p>
            <a:r>
              <a:rPr lang="en-IN" dirty="0"/>
              <a:t>Reduces words to their </a:t>
            </a:r>
            <a:r>
              <a:rPr lang="en-IN" b="1" dirty="0"/>
              <a:t>base/dictionary form (lemma)</a:t>
            </a:r>
            <a:r>
              <a:rPr lang="en-IN" dirty="0"/>
              <a:t> using vocabulary and grammar rules.</a:t>
            </a:r>
          </a:p>
          <a:p>
            <a:r>
              <a:rPr lang="en-IN" dirty="0"/>
              <a:t>Example:</a:t>
            </a:r>
          </a:p>
          <a:p>
            <a:pPr lvl="1"/>
            <a:r>
              <a:rPr lang="en-IN" dirty="0"/>
              <a:t>“playing” → “play”</a:t>
            </a:r>
          </a:p>
          <a:p>
            <a:pPr lvl="1"/>
            <a:r>
              <a:rPr lang="en-IN" dirty="0"/>
              <a:t>“better” → “good”</a:t>
            </a:r>
          </a:p>
          <a:p>
            <a:pPr lvl="1"/>
            <a:r>
              <a:rPr lang="en-IN" dirty="0"/>
              <a:t>“studies” → “study”</a:t>
            </a:r>
          </a:p>
          <a:p>
            <a:r>
              <a:rPr lang="en-IN" dirty="0"/>
              <a:t>👉 Always produces valid words (unlike stemming).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4. Why are they important?</a:t>
            </a:r>
          </a:p>
          <a:p>
            <a:r>
              <a:rPr lang="en-IN" dirty="0"/>
              <a:t>Text data has many forms of the same word.</a:t>
            </a:r>
          </a:p>
          <a:p>
            <a:r>
              <a:rPr lang="en-IN" dirty="0"/>
              <a:t>Stemming/Lemmatization </a:t>
            </a:r>
            <a:r>
              <a:rPr lang="en-IN" b="1" dirty="0"/>
              <a:t>normalize words</a:t>
            </a:r>
            <a:r>
              <a:rPr lang="en-IN" dirty="0"/>
              <a:t> so that </a:t>
            </a:r>
            <a:r>
              <a:rPr lang="en-IN" dirty="0" err="1"/>
              <a:t>BoW</a:t>
            </a:r>
            <a:r>
              <a:rPr lang="en-IN" dirty="0"/>
              <a:t> or TF-IDF models don’t treat them as separate.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Without stemming → “play”, “playing”, “played” are 3 different features.</a:t>
            </a:r>
            <a:br>
              <a:rPr lang="en-IN" dirty="0"/>
            </a:br>
            <a:r>
              <a:rPr lang="en-IN" dirty="0"/>
              <a:t>With stemming/lemmatization → all reduced to “play”.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✅ Quick Summary for Students</a:t>
            </a:r>
          </a:p>
          <a:p>
            <a:r>
              <a:rPr lang="en-IN" b="1" dirty="0" err="1"/>
              <a:t>BoW</a:t>
            </a:r>
            <a:r>
              <a:rPr lang="en-IN" b="1" dirty="0"/>
              <a:t>:</a:t>
            </a:r>
            <a:r>
              <a:rPr lang="en-IN" dirty="0"/>
              <a:t> Text → Word frequency vector (ignores order/grammar).</a:t>
            </a:r>
          </a:p>
          <a:p>
            <a:r>
              <a:rPr lang="en-IN" b="1" dirty="0"/>
              <a:t>Stemming:</a:t>
            </a:r>
            <a:r>
              <a:rPr lang="en-IN" dirty="0"/>
              <a:t> Cut words to root (fast but crude).</a:t>
            </a:r>
          </a:p>
          <a:p>
            <a:r>
              <a:rPr lang="en-IN" b="1" dirty="0"/>
              <a:t>Lemmatization:</a:t>
            </a:r>
            <a:r>
              <a:rPr lang="en-IN" dirty="0"/>
              <a:t> Smarter, reduces to dictionary form (slow but accurate).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40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8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Imagine training a dog 🐶:</a:t>
            </a:r>
          </a:p>
          <a:p>
            <a:r>
              <a:rPr lang="en-IN" dirty="0"/>
              <a:t>Say </a:t>
            </a:r>
            <a:r>
              <a:rPr lang="en-IN" i="1" dirty="0"/>
              <a:t>“sit”</a:t>
            </a:r>
            <a:r>
              <a:rPr lang="en-IN" dirty="0"/>
              <a:t>, if dog sits → give a biscuit (</a:t>
            </a:r>
            <a:r>
              <a:rPr lang="en-IN" b="1" dirty="0"/>
              <a:t>reward</a:t>
            </a:r>
            <a:r>
              <a:rPr lang="en-IN" dirty="0"/>
              <a:t>).</a:t>
            </a:r>
          </a:p>
          <a:p>
            <a:r>
              <a:rPr lang="en-IN" dirty="0"/>
              <a:t>If it doesn’t → no reward.</a:t>
            </a:r>
          </a:p>
          <a:p>
            <a:r>
              <a:rPr lang="en-IN" dirty="0"/>
              <a:t>Over time, the dog learns the best action (sit when asked).</a:t>
            </a:r>
            <a:br>
              <a:rPr lang="en-IN" dirty="0"/>
            </a:br>
            <a:r>
              <a:rPr lang="en-IN" dirty="0"/>
              <a:t>👉 This is exactly how RL works!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97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RL = Learning by trial and error with rewards &amp; penalties.</a:t>
            </a:r>
            <a:endParaRPr lang="en-IN" dirty="0"/>
          </a:p>
          <a:p>
            <a:r>
              <a:rPr lang="en-IN" dirty="0"/>
              <a:t>Agent + Environment + Rewards + Actions + Policy.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454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945-1BD3-4A42-A33D-9C02A77DE8F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80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F659-2A08-88B4-784C-4E3C64E88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05E4D-85E7-3198-416D-FAC41C44B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B405D-8B41-D7BC-29F4-FC5B70E24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9F7B0-44B7-1A79-6F4A-BA537C2B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47736-A231-04EA-B1EF-E40C45C3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8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7478-7E1E-79DC-91D4-F19898AA4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3F736-7AA1-F2FA-6EA8-F527CD9E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E6604-C9E1-651B-B6E5-8BAF5C1F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FCB32-320D-D64F-C51A-0C4B8ECA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A1715-0375-0EF5-1088-B325DA09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0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62DC-26FC-DB58-6A41-63124565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24355-DC97-51A4-E487-206B3D82F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08A42-0F21-6AB4-B28F-BC46A764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2429-55D5-503F-5220-976336B3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AD779-FFC3-7924-0F6E-E29D4373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9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5C11A-193F-5FDE-ACDD-BB1C8A0F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0B8E-869A-71AC-8F42-D736B8FCF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5B1B9-438E-7E13-13D2-05C683CA7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F6675-4B08-6D4A-F101-282B995A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4864D-587E-6810-F165-51D121D4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71E4B-D3F7-D928-79EB-47285508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9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7556-7854-4EE6-AE8F-352FFCE4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30BBE-135F-3049-B043-4831D44E7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697F7-FDCA-C551-E296-C2AFC19E2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15777-689D-FE0D-CD88-ED3C22F36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A74B9-D0B9-806A-EC72-254AE6999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6739C1-AB85-105B-2B7E-806404B2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F0A9C-BEDA-4C62-B8A2-3CB2DEE8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30151-0FD1-F0F9-49DE-7E861152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6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3BC0-A6F2-ADC2-2B73-ED955794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690F7-694F-0494-26B8-6B8638EB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DD383-663E-08C9-D8E9-D21162F1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6F45-1BC5-18E2-57BE-B7F261BE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A63BB6-6D8F-DD2A-5C2D-2AC16500A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38D08-3905-3CDC-1DB9-BDE5EB5D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94723-1D01-2790-35F2-84369A11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6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DECA-31A9-62EF-1E90-02A80E6F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94BE0-315E-67FB-B200-48AAA0EB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5B951-1DB0-1AFD-6FEC-43E5321BC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B1DD8-D5B5-85B9-5BDF-A0C84B98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DD36E-BDC3-898C-82AB-BC993C61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98402-2EA9-D50B-9FB4-3B37941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0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8D0C-7B3B-257E-36AC-FF0831EF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047D9-EA9E-6929-B1FE-8B3D8F2B9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EE182-10AD-86D3-C27B-56C9C4860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E3365-063A-8835-89F4-B7C9BAFA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5FF29-C845-B74A-3181-3BA9BB75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50056-6642-E399-C00D-FB5A8D5D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9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FFB3-FBF7-7323-2004-2A0F8091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11EE0-EC1F-2187-94BF-1FAC4807E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CBAF6-BAA1-EE22-5052-5DBCEF24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110A2-9500-3C40-BCE5-2AC27B95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BFA45-7C92-1038-7204-99454419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75D70-273E-3A46-9334-9A9C12528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6CDC2-9FB8-2E11-B0A7-668C72A88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11040-DDF3-B14C-B1AC-E70E6DA91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4BA0E-C3E4-05BF-48B9-FB4494195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18DF-6EA6-D645-AEC9-BCB059F5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3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CDF26-9FD7-E081-C985-A48B1FA7A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99F8F-E5A3-FA1E-C6D6-E03EA13AB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B1D85-6873-E6CD-5BD6-AE42714A8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56856-DDC3-DA4D-8DDF-80F4CB4BF37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4FD8C-60D4-D50A-5006-A77059263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5B340-7064-AEAE-8E3C-56805BBEB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8EF60-EDD1-D24B-A69D-8D243ED8F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4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8385-FFF1-D22E-AD13-F5327C51F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Unit 1: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F2122-1EED-F5A7-A436-70217EF60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6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EDEF3-CB8D-8F15-285A-6ED80C5B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What is Machine Learning?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4144-D306-CC20-8C74-DE359BE34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IN" dirty="0"/>
              <a:t>It is a field of computer science where a computer program </a:t>
            </a:r>
            <a:r>
              <a:rPr lang="en-IN" b="1" dirty="0"/>
              <a:t>learns from data</a:t>
            </a:r>
            <a:r>
              <a:rPr lang="en-IN" dirty="0"/>
              <a:t> and improves its performance </a:t>
            </a:r>
            <a:r>
              <a:rPr lang="en-IN" b="1" dirty="0"/>
              <a:t>without being explicitly programmed</a:t>
            </a:r>
            <a:r>
              <a:rPr lang="en-IN" dirty="0"/>
              <a:t>.</a:t>
            </a:r>
          </a:p>
          <a:p>
            <a:pPr>
              <a:lnSpc>
                <a:spcPct val="120000"/>
              </a:lnSpc>
            </a:pPr>
            <a:r>
              <a:rPr lang="en-IN" dirty="0"/>
              <a:t>It involves feeding </a:t>
            </a:r>
            <a:r>
              <a:rPr lang="en-IN" b="1" dirty="0"/>
              <a:t>data</a:t>
            </a:r>
            <a:r>
              <a:rPr lang="en-IN" dirty="0"/>
              <a:t> into </a:t>
            </a:r>
            <a:r>
              <a:rPr lang="en-IN" b="1" dirty="0"/>
              <a:t>algorithms</a:t>
            </a:r>
            <a:r>
              <a:rPr lang="en-IN" dirty="0"/>
              <a:t> to </a:t>
            </a:r>
            <a:r>
              <a:rPr lang="en-IN" b="1" dirty="0"/>
              <a:t>identify patterns</a:t>
            </a:r>
            <a:r>
              <a:rPr lang="en-IN" dirty="0"/>
              <a:t> and </a:t>
            </a:r>
            <a:r>
              <a:rPr lang="en-IN" b="1" dirty="0"/>
              <a:t>make predictions</a:t>
            </a:r>
            <a:r>
              <a:rPr lang="en-IN" dirty="0"/>
              <a:t> on new data.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Everyday Examples of ML</a:t>
            </a:r>
          </a:p>
          <a:p>
            <a:pPr lvl="1">
              <a:lnSpc>
                <a:spcPct val="120000"/>
              </a:lnSpc>
            </a:pPr>
            <a:r>
              <a:rPr lang="en-IN" b="1" dirty="0"/>
              <a:t>Spam Filter:</a:t>
            </a:r>
            <a:r>
              <a:rPr lang="en-IN" dirty="0"/>
              <a:t> Learns from past </a:t>
            </a:r>
            <a:r>
              <a:rPr lang="en-IN" dirty="0" err="1"/>
              <a:t>labeled</a:t>
            </a:r>
            <a:r>
              <a:rPr lang="en-IN" dirty="0"/>
              <a:t> emails to detect spam.</a:t>
            </a:r>
          </a:p>
          <a:p>
            <a:pPr lvl="1">
              <a:lnSpc>
                <a:spcPct val="120000"/>
              </a:lnSpc>
            </a:pPr>
            <a:r>
              <a:rPr lang="en-IN" b="1" dirty="0"/>
              <a:t>Netflix Recommendations:</a:t>
            </a:r>
            <a:r>
              <a:rPr lang="en-IN" dirty="0"/>
              <a:t> Learns from your past viewing history to suggest movies.</a:t>
            </a:r>
          </a:p>
          <a:p>
            <a:pPr lvl="1">
              <a:lnSpc>
                <a:spcPct val="120000"/>
              </a:lnSpc>
            </a:pPr>
            <a:r>
              <a:rPr lang="en-IN" b="1" dirty="0"/>
              <a:t>Self-driving Cars:</a:t>
            </a:r>
            <a:r>
              <a:rPr lang="en-IN" dirty="0"/>
              <a:t> Learn from millions of driving scenarios.</a:t>
            </a:r>
          </a:p>
        </p:txBody>
      </p:sp>
    </p:spTree>
    <p:extLst>
      <p:ext uri="{BB962C8B-B14F-4D97-AF65-F5344CB8AC3E}">
        <p14:creationId xmlns:p14="http://schemas.microsoft.com/office/powerpoint/2010/main" val="187964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0D3F-ACF9-1B07-F87F-9853DCC9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Definition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41AE7-7B82-79AA-8B83-5463FD985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i="1" dirty="0"/>
              <a:t>Tom Mitchell’s definition (1997):</a:t>
            </a:r>
          </a:p>
          <a:p>
            <a:pPr marL="0" indent="0">
              <a:buNone/>
            </a:pPr>
            <a:r>
              <a:rPr lang="en-IN" dirty="0"/>
              <a:t>A computer program is said to learn from experience </a:t>
            </a:r>
            <a:r>
              <a:rPr lang="en-IN" b="1" dirty="0"/>
              <a:t>E</a:t>
            </a:r>
            <a:r>
              <a:rPr lang="en-IN" dirty="0"/>
              <a:t> with respect to some class of tasks </a:t>
            </a:r>
            <a:r>
              <a:rPr lang="en-IN" b="1" dirty="0"/>
              <a:t>T</a:t>
            </a:r>
            <a:r>
              <a:rPr lang="en-IN" dirty="0"/>
              <a:t> and performance measure </a:t>
            </a:r>
            <a:r>
              <a:rPr lang="en-IN" b="1" dirty="0"/>
              <a:t>P</a:t>
            </a:r>
            <a:r>
              <a:rPr lang="en-IN" dirty="0"/>
              <a:t> if its performance at tasks in </a:t>
            </a:r>
            <a:r>
              <a:rPr lang="en-IN" b="1" dirty="0"/>
              <a:t>T</a:t>
            </a:r>
            <a:r>
              <a:rPr lang="en-IN" dirty="0"/>
              <a:t>, as measured by </a:t>
            </a:r>
            <a:r>
              <a:rPr lang="en-IN" b="1" dirty="0"/>
              <a:t>P</a:t>
            </a:r>
            <a:r>
              <a:rPr lang="en-IN" dirty="0"/>
              <a:t>, improves with experience </a:t>
            </a:r>
            <a:r>
              <a:rPr lang="en-IN" b="1" dirty="0"/>
              <a:t>E</a:t>
            </a:r>
            <a:r>
              <a:rPr lang="en-IN" dirty="0"/>
              <a:t>.”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“Key elements of a learning problem:</a:t>
            </a:r>
          </a:p>
          <a:p>
            <a:r>
              <a:rPr lang="en-IN" b="1" dirty="0"/>
              <a:t>Task (T):</a:t>
            </a:r>
            <a:r>
              <a:rPr lang="en-IN" dirty="0"/>
              <a:t> What the system is trying to do (e.g., classify emails as spam/not spam).</a:t>
            </a:r>
          </a:p>
          <a:p>
            <a:r>
              <a:rPr lang="en-IN" b="1" dirty="0"/>
              <a:t>Experience (E):</a:t>
            </a:r>
            <a:r>
              <a:rPr lang="en-IN" dirty="0"/>
              <a:t> Data the system learns from (e.g., past </a:t>
            </a:r>
            <a:r>
              <a:rPr lang="en-IN" dirty="0" err="1"/>
              <a:t>labeled</a:t>
            </a:r>
            <a:r>
              <a:rPr lang="en-IN" dirty="0"/>
              <a:t> emails).</a:t>
            </a:r>
          </a:p>
          <a:p>
            <a:r>
              <a:rPr lang="en-IN" b="1" dirty="0"/>
              <a:t>Performance (P):</a:t>
            </a:r>
            <a:r>
              <a:rPr lang="en-IN" dirty="0"/>
              <a:t> How well the system performs, often measured by accuracy, error rate, or reward.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0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79A74-DC5E-4944-A121-5693C41E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EDEF3-79EB-F23D-DD89-F5FAB4E8C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395"/>
            <a:ext cx="10515600" cy="4803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Supermarket chain</a:t>
            </a:r>
          </a:p>
          <a:p>
            <a:pPr marL="0" indent="0">
              <a:buNone/>
            </a:pPr>
            <a:r>
              <a:rPr lang="en-IN" b="1" dirty="0"/>
              <a:t>Scenario</a:t>
            </a:r>
            <a:endParaRPr lang="en-IN" dirty="0"/>
          </a:p>
          <a:p>
            <a:pPr lvl="1"/>
            <a:r>
              <a:rPr lang="en-IN" dirty="0"/>
              <a:t>A supermarket chain has </a:t>
            </a:r>
            <a:r>
              <a:rPr lang="en-IN" b="1" dirty="0"/>
              <a:t>millions of customers</a:t>
            </a:r>
            <a:r>
              <a:rPr lang="en-IN" dirty="0"/>
              <a:t> and </a:t>
            </a:r>
            <a:r>
              <a:rPr lang="en-IN" b="1" dirty="0"/>
              <a:t>thousands of products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Sales happen through </a:t>
            </a:r>
            <a:r>
              <a:rPr lang="en-IN" b="1" dirty="0"/>
              <a:t>physical stores</a:t>
            </a:r>
            <a:r>
              <a:rPr lang="en-IN" dirty="0"/>
              <a:t> and </a:t>
            </a:r>
            <a:r>
              <a:rPr lang="en-IN" b="1" dirty="0"/>
              <a:t>online stores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Data Collected</a:t>
            </a:r>
            <a:br>
              <a:rPr lang="en-IN" dirty="0"/>
            </a:br>
            <a:r>
              <a:rPr lang="en-IN" dirty="0"/>
              <a:t>	</a:t>
            </a:r>
            <a:r>
              <a:rPr lang="en-IN" sz="2400" dirty="0"/>
              <a:t>Each transaction records:</a:t>
            </a:r>
          </a:p>
          <a:p>
            <a:pPr lvl="2"/>
            <a:r>
              <a:rPr lang="en-IN" sz="2400" dirty="0"/>
              <a:t>Date &amp; time of purchase</a:t>
            </a:r>
          </a:p>
          <a:p>
            <a:pPr lvl="2"/>
            <a:r>
              <a:rPr lang="en-IN" sz="2400" dirty="0"/>
              <a:t>Customer ID</a:t>
            </a:r>
          </a:p>
          <a:p>
            <a:pPr lvl="2"/>
            <a:r>
              <a:rPr lang="en-IN" sz="2400" dirty="0"/>
              <a:t>Items purchased and quantity</a:t>
            </a:r>
          </a:p>
          <a:p>
            <a:pPr lvl="2"/>
            <a:r>
              <a:rPr lang="en-IN" sz="2400" dirty="0"/>
              <a:t>Total money spent</a:t>
            </a:r>
          </a:p>
          <a:p>
            <a:endParaRPr lang="en-IN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17643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285B-75AE-D2E0-817E-7B02249C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95363-26C7-1D77-2D39-C956817A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355271"/>
            <a:ext cx="10863943" cy="51376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Challenge (Why ML is needed?)</a:t>
            </a:r>
            <a:endParaRPr lang="en-IN" sz="2400" dirty="0"/>
          </a:p>
          <a:p>
            <a:pPr lvl="1"/>
            <a:r>
              <a:rPr lang="en-IN" dirty="0"/>
              <a:t>Huge amount of data is generated every day.</a:t>
            </a:r>
          </a:p>
          <a:p>
            <a:pPr lvl="1"/>
            <a:r>
              <a:rPr lang="en-IN" dirty="0"/>
              <a:t>Hard for humans to </a:t>
            </a:r>
            <a:r>
              <a:rPr lang="en-IN" dirty="0" err="1"/>
              <a:t>analyze</a:t>
            </a:r>
            <a:r>
              <a:rPr lang="en-IN" dirty="0"/>
              <a:t> and predict customer </a:t>
            </a:r>
            <a:r>
              <a:rPr lang="en-IN" dirty="0" err="1"/>
              <a:t>behavior</a:t>
            </a:r>
            <a:r>
              <a:rPr lang="en-IN" dirty="0"/>
              <a:t> manually.</a:t>
            </a:r>
          </a:p>
          <a:p>
            <a:pPr marL="0" indent="0">
              <a:buNone/>
            </a:pPr>
            <a:r>
              <a:rPr lang="en-IN" sz="2400" b="1" dirty="0"/>
              <a:t>Business Goal</a:t>
            </a:r>
            <a:endParaRPr lang="en-IN" sz="2400" dirty="0"/>
          </a:p>
          <a:p>
            <a:pPr lvl="1"/>
            <a:r>
              <a:rPr lang="en-IN" dirty="0"/>
              <a:t>Predict </a:t>
            </a:r>
            <a:r>
              <a:rPr lang="en-IN" b="1" dirty="0"/>
              <a:t>which customer is likely to buy which product(discover associations)</a:t>
            </a:r>
            <a:endParaRPr lang="en-IN" dirty="0"/>
          </a:p>
          <a:p>
            <a:pPr lvl="1"/>
            <a:r>
              <a:rPr lang="en-IN" dirty="0"/>
              <a:t>Use this to:</a:t>
            </a:r>
          </a:p>
          <a:p>
            <a:pPr marL="1200150" lvl="2" indent="-285750"/>
            <a:r>
              <a:rPr lang="en-IN" sz="2400" dirty="0"/>
              <a:t>Personalize product recommendations</a:t>
            </a:r>
          </a:p>
          <a:p>
            <a:pPr marL="1200150" lvl="2" indent="-285750"/>
            <a:r>
              <a:rPr lang="en-IN" sz="2400" dirty="0"/>
              <a:t>Maximize sales and profit</a:t>
            </a:r>
          </a:p>
          <a:p>
            <a:pPr marL="1200150" lvl="2" indent="-285750"/>
            <a:r>
              <a:rPr lang="en-IN" sz="2400" dirty="0"/>
              <a:t>Improve customer satisfaction</a:t>
            </a:r>
          </a:p>
          <a:p>
            <a:pPr marL="0" indent="0">
              <a:buNone/>
            </a:pPr>
            <a:r>
              <a:rPr lang="en-IN" sz="2400" b="1" dirty="0"/>
              <a:t>Customer’s Goal</a:t>
            </a:r>
            <a:endParaRPr lang="en-IN" sz="2400" dirty="0"/>
          </a:p>
          <a:p>
            <a:pPr lvl="1"/>
            <a:r>
              <a:rPr lang="en-IN" dirty="0"/>
              <a:t>Customers want to </a:t>
            </a:r>
            <a:r>
              <a:rPr lang="en-IN" b="1" dirty="0"/>
              <a:t>quickly find products</a:t>
            </a:r>
            <a:r>
              <a:rPr lang="en-IN" dirty="0"/>
              <a:t> that best match their needs (like ice cream in summer, spices in winter).</a:t>
            </a:r>
          </a:p>
          <a:p>
            <a:pPr lvl="1"/>
            <a:r>
              <a:rPr lang="en-IN" dirty="0"/>
              <a:t>Avoid searching through irrelevant items.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0123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1E0D-9D7A-1591-6DBF-734FAA9C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249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CCD1A-36C0-56DA-C753-959EA8D3E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08314"/>
            <a:ext cx="11065329" cy="49686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Why Not Random?</a:t>
            </a:r>
            <a:endParaRPr lang="en-IN" sz="2400" dirty="0"/>
          </a:p>
          <a:p>
            <a:pPr lvl="1"/>
            <a:r>
              <a:rPr lang="en-IN" dirty="0"/>
              <a:t>Customers don’t buy items randomly.</a:t>
            </a:r>
          </a:p>
          <a:p>
            <a:pPr lvl="1"/>
            <a:r>
              <a:rPr lang="en-IN" dirty="0"/>
              <a:t>Their choices follow </a:t>
            </a:r>
            <a:r>
              <a:rPr lang="en-IN" b="1" dirty="0"/>
              <a:t>patterns</a:t>
            </a:r>
            <a:r>
              <a:rPr lang="en-IN" dirty="0"/>
              <a:t>:</a:t>
            </a:r>
          </a:p>
          <a:p>
            <a:pPr lvl="2"/>
            <a:r>
              <a:rPr lang="en-IN" sz="2400" dirty="0"/>
              <a:t>Beer → Chips</a:t>
            </a:r>
          </a:p>
          <a:p>
            <a:pPr lvl="2"/>
            <a:r>
              <a:rPr lang="en-IN" sz="2400" dirty="0"/>
              <a:t>Ice cream → Summer</a:t>
            </a:r>
          </a:p>
          <a:p>
            <a:pPr lvl="2"/>
            <a:r>
              <a:rPr lang="en-IN" sz="2400" dirty="0"/>
              <a:t>Glühwein (mulled wine) spices → Winter</a:t>
            </a:r>
          </a:p>
          <a:p>
            <a:pPr lvl="1"/>
            <a:r>
              <a:rPr lang="en-IN" dirty="0"/>
              <a:t>These patterns can be learned by ML.</a:t>
            </a:r>
          </a:p>
          <a:p>
            <a:pPr marL="0" indent="0">
              <a:buNone/>
            </a:pPr>
            <a:r>
              <a:rPr lang="en-IN" sz="2400" b="1" dirty="0"/>
              <a:t>ML Task</a:t>
            </a:r>
            <a:endParaRPr lang="en-IN" sz="2400" dirty="0"/>
          </a:p>
          <a:p>
            <a:pPr lvl="1"/>
            <a:r>
              <a:rPr lang="en-IN" dirty="0"/>
              <a:t>Identify these patterns in historical data.</a:t>
            </a:r>
          </a:p>
          <a:p>
            <a:pPr lvl="1"/>
            <a:r>
              <a:rPr lang="en-IN" dirty="0"/>
              <a:t>Use them to recommend products → e.g., “People who bought </a:t>
            </a:r>
            <a:r>
              <a:rPr lang="en-IN" i="1" dirty="0"/>
              <a:t>X</a:t>
            </a:r>
            <a:r>
              <a:rPr lang="en-IN" dirty="0"/>
              <a:t> also bought </a:t>
            </a:r>
            <a:r>
              <a:rPr lang="en-IN" i="1" dirty="0"/>
              <a:t>Y</a:t>
            </a:r>
            <a:r>
              <a:rPr lang="en-IN" dirty="0"/>
              <a:t>”.</a:t>
            </a:r>
            <a:r>
              <a:rPr lang="en-IN" b="1" dirty="0"/>
              <a:t> </a:t>
            </a:r>
          </a:p>
          <a:p>
            <a:r>
              <a:rPr lang="en-IN" sz="2400" b="1" dirty="0"/>
              <a:t>ML Techniques Used</a:t>
            </a:r>
            <a:endParaRPr lang="en-IN" sz="2400" dirty="0"/>
          </a:p>
          <a:p>
            <a:pPr lvl="1"/>
            <a:r>
              <a:rPr lang="en-IN" b="1" dirty="0"/>
              <a:t>Association Rule Mining</a:t>
            </a:r>
            <a:r>
              <a:rPr lang="en-IN" dirty="0"/>
              <a:t> (e.g., </a:t>
            </a:r>
            <a:r>
              <a:rPr lang="en-IN" dirty="0" err="1"/>
              <a:t>Apriori</a:t>
            </a:r>
            <a:r>
              <a:rPr lang="en-IN" dirty="0"/>
              <a:t> algorithm) → discovers item-to-item rules.</a:t>
            </a:r>
          </a:p>
          <a:p>
            <a:pPr lvl="1"/>
            <a:r>
              <a:rPr lang="en-IN" b="1" dirty="0"/>
              <a:t>Recommendation Systems</a:t>
            </a:r>
            <a:r>
              <a:rPr lang="en-IN" dirty="0"/>
              <a:t> → personalizes products for each customer.</a:t>
            </a:r>
          </a:p>
          <a:p>
            <a:pPr lvl="1"/>
            <a:endParaRPr lang="en-IN" dirty="0"/>
          </a:p>
          <a:p>
            <a:endParaRPr lang="en-IN" sz="2400" dirty="0"/>
          </a:p>
          <a:p>
            <a:pPr lvl="1"/>
            <a:endParaRPr lang="en-IN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485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7FDDD-CF86-6887-57D1-1822114DE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75009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7E164-7B0B-82E8-9BAF-4E4E109A6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592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Outcome</a:t>
            </a:r>
            <a:endParaRPr lang="en-IN" dirty="0"/>
          </a:p>
          <a:p>
            <a:pPr lvl="1"/>
            <a:r>
              <a:rPr lang="en-IN" dirty="0"/>
              <a:t>Customers see relevant product suggestions.</a:t>
            </a:r>
          </a:p>
          <a:p>
            <a:pPr lvl="1"/>
            <a:r>
              <a:rPr lang="en-IN" dirty="0"/>
              <a:t>Supermarket increases </a:t>
            </a:r>
            <a:r>
              <a:rPr lang="en-IN" b="1" dirty="0"/>
              <a:t>cross-selling</a:t>
            </a:r>
            <a:r>
              <a:rPr lang="en-IN" dirty="0"/>
              <a:t> (beer + chips) and </a:t>
            </a:r>
            <a:r>
              <a:rPr lang="en-IN" b="1" dirty="0"/>
              <a:t>seasonal sales</a:t>
            </a:r>
            <a:r>
              <a:rPr lang="en-IN" dirty="0"/>
              <a:t> (ice cream in summer).</a:t>
            </a:r>
          </a:p>
          <a:p>
            <a:pPr lvl="1"/>
            <a:r>
              <a:rPr lang="en-IN" dirty="0"/>
              <a:t>Both </a:t>
            </a:r>
            <a:r>
              <a:rPr lang="en-IN" b="1" dirty="0"/>
              <a:t>profit</a:t>
            </a:r>
            <a:r>
              <a:rPr lang="en-IN" dirty="0"/>
              <a:t> and </a:t>
            </a:r>
            <a:r>
              <a:rPr lang="en-IN" b="1" dirty="0"/>
              <a:t>customer satisfaction</a:t>
            </a:r>
            <a:r>
              <a:rPr lang="en-IN" dirty="0"/>
              <a:t> improve.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26402-6BD2-018E-4ACB-9E663FF02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214" y="2939142"/>
            <a:ext cx="6426200" cy="4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0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15C3-9B79-93C9-9808-FB5AA8EF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Programming vs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6167-A53D-124A-451D-58CC5960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requires exact instructions</a:t>
            </a:r>
          </a:p>
          <a:p>
            <a:r>
              <a:rPr lang="en-IN" dirty="0"/>
              <a:t>doesn’t handle complex tasks like </a:t>
            </a:r>
            <a:r>
              <a:rPr lang="en-IN" b="1" dirty="0"/>
              <a:t>understanding images </a:t>
            </a:r>
            <a:r>
              <a:rPr lang="en-IN" dirty="0"/>
              <a:t>or </a:t>
            </a:r>
            <a:r>
              <a:rPr lang="en-IN" b="1" dirty="0"/>
              <a:t>language well</a:t>
            </a:r>
          </a:p>
          <a:p>
            <a:r>
              <a:rPr lang="en-IN" dirty="0"/>
              <a:t>It can’t efficiently process large amounts of data.</a:t>
            </a:r>
          </a:p>
          <a:p>
            <a:r>
              <a:rPr lang="en-IN" dirty="0"/>
              <a:t>Machine Learning solves these problems by </a:t>
            </a:r>
            <a:r>
              <a:rPr lang="en-IN" b="1" dirty="0"/>
              <a:t>learning from examples</a:t>
            </a:r>
          </a:p>
          <a:p>
            <a:r>
              <a:rPr lang="en-IN" dirty="0"/>
              <a:t>making predictions without fixed rules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51720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FF4AF-162E-47BB-12C3-8165B729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do we need Machine Learning?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DFA3-9228-75DE-ADC6-FB5E31C1C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Solving Complex Business Problems</a:t>
            </a:r>
          </a:p>
          <a:p>
            <a:r>
              <a:rPr lang="en-IN" b="1" dirty="0"/>
              <a:t>Handling Large Volumes of Data</a:t>
            </a:r>
          </a:p>
          <a:p>
            <a:r>
              <a:rPr lang="en-IN" b="1" dirty="0"/>
              <a:t>Automate Repetitive Tasks</a:t>
            </a:r>
          </a:p>
          <a:p>
            <a:r>
              <a:rPr lang="en-IN" b="1" dirty="0"/>
              <a:t>Personalized User Experience</a:t>
            </a:r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5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E86D-CF59-C6A2-AFB1-291F885C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Image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B5499-2A0D-331D-8293-B9FFA1069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383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dirty="0"/>
              <a:t>Recognition happens even when:</a:t>
            </a:r>
          </a:p>
          <a:p>
            <a:pPr lvl="1"/>
            <a:r>
              <a:rPr lang="en-IN" dirty="0"/>
              <a:t>Pose is different</a:t>
            </a:r>
          </a:p>
          <a:p>
            <a:pPr lvl="1"/>
            <a:r>
              <a:rPr lang="en-IN" dirty="0"/>
              <a:t>Lighting changes</a:t>
            </a:r>
          </a:p>
          <a:p>
            <a:pPr lvl="1"/>
            <a:r>
              <a:rPr lang="en-IN" dirty="0"/>
              <a:t>Hair style changes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A face is </a:t>
            </a:r>
            <a:r>
              <a:rPr lang="en-IN" b="1" dirty="0"/>
              <a:t>not just random pixels</a:t>
            </a:r>
            <a:r>
              <a:rPr lang="en-IN" dirty="0"/>
              <a:t>; it has a </a:t>
            </a:r>
            <a:r>
              <a:rPr lang="en-IN" b="1" dirty="0"/>
              <a:t>structure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Symmetry</a:t>
            </a:r>
          </a:p>
          <a:p>
            <a:pPr lvl="1"/>
            <a:r>
              <a:rPr lang="en-IN" dirty="0"/>
              <a:t>Eyes, nose, mouth appear in fixed relative positions.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Each person’s face is a </a:t>
            </a:r>
            <a:r>
              <a:rPr lang="en-IN" b="1" dirty="0"/>
              <a:t>unique combination</a:t>
            </a:r>
            <a:r>
              <a:rPr lang="en-IN" dirty="0"/>
              <a:t> of these features.</a:t>
            </a:r>
          </a:p>
          <a:p>
            <a:pPr lvl="1"/>
            <a:r>
              <a:rPr lang="en-IN" dirty="0"/>
              <a:t>Example: Distance between eyes, shape of nose, curve of lips.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Machine Learning Approach</a:t>
            </a:r>
          </a:p>
          <a:p>
            <a:pPr lvl="1"/>
            <a:r>
              <a:rPr lang="en-IN" dirty="0"/>
              <a:t>Collect </a:t>
            </a:r>
            <a:r>
              <a:rPr lang="en-IN" b="1" dirty="0"/>
              <a:t>sample face images</a:t>
            </a:r>
            <a:r>
              <a:rPr lang="en-IN" dirty="0"/>
              <a:t> of a person.</a:t>
            </a:r>
          </a:p>
          <a:p>
            <a:pPr lvl="1"/>
            <a:r>
              <a:rPr lang="en-IN" dirty="0"/>
              <a:t>The ML model learns the </a:t>
            </a:r>
            <a:r>
              <a:rPr lang="en-IN" b="1" dirty="0"/>
              <a:t>pattern specific to that person</a:t>
            </a:r>
            <a:r>
              <a:rPr lang="en-IN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Application</a:t>
            </a:r>
          </a:p>
          <a:p>
            <a:pPr lvl="1"/>
            <a:r>
              <a:rPr lang="en-IN" dirty="0"/>
              <a:t>Phone unlocking (Face ID)</a:t>
            </a:r>
          </a:p>
          <a:p>
            <a:pPr lvl="1"/>
            <a:r>
              <a:rPr lang="en-IN" dirty="0"/>
              <a:t>Security systems (CCTV)</a:t>
            </a:r>
          </a:p>
          <a:p>
            <a:pPr lvl="1"/>
            <a:r>
              <a:rPr lang="en-IN" dirty="0"/>
              <a:t>Social media photo tagging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00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3A75-0181-5A14-DC4A-C18D3F94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Speech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0636D-1E01-77AD-4EC4-800BC5D0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515600" cy="522514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dirty="0"/>
              <a:t>Speech recognition means </a:t>
            </a:r>
            <a:r>
              <a:rPr lang="en-IN" b="1" dirty="0"/>
              <a:t>converting spoken language into text</a:t>
            </a:r>
            <a:r>
              <a:rPr lang="en-IN" dirty="0"/>
              <a:t> using machine learning.</a:t>
            </a:r>
          </a:p>
          <a:p>
            <a:pPr lvl="1"/>
            <a:r>
              <a:rPr lang="en-IN" dirty="0"/>
              <a:t>Example: When you say </a:t>
            </a:r>
            <a:r>
              <a:rPr lang="en-IN" i="1" dirty="0"/>
              <a:t>“Call Mom”</a:t>
            </a:r>
            <a:r>
              <a:rPr lang="en-IN" dirty="0"/>
              <a:t>, your phone converts the audio into words and executes the command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Speech varies a lot due to:</a:t>
            </a:r>
          </a:p>
          <a:p>
            <a:pPr lvl="1"/>
            <a:r>
              <a:rPr lang="en-IN" dirty="0"/>
              <a:t>Accent (British vs. Indian English)</a:t>
            </a:r>
          </a:p>
          <a:p>
            <a:pPr lvl="1"/>
            <a:r>
              <a:rPr lang="en-IN" dirty="0"/>
              <a:t>Speed (fast vs. slow talkers)</a:t>
            </a:r>
          </a:p>
          <a:p>
            <a:pPr lvl="1"/>
            <a:r>
              <a:rPr lang="en-IN" dirty="0"/>
              <a:t>Background noise</a:t>
            </a:r>
          </a:p>
          <a:p>
            <a:pPr lvl="1"/>
            <a:r>
              <a:rPr lang="en-IN" dirty="0"/>
              <a:t>Pronunciation differences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Human speech is </a:t>
            </a:r>
            <a:r>
              <a:rPr lang="en-IN" b="1" dirty="0"/>
              <a:t>not random noise</a:t>
            </a:r>
            <a:r>
              <a:rPr lang="en-IN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It has patterns:</a:t>
            </a:r>
          </a:p>
          <a:p>
            <a:pPr lvl="1"/>
            <a:r>
              <a:rPr lang="en-IN" dirty="0"/>
              <a:t>Words are made of phonemes (basic sound units).</a:t>
            </a:r>
          </a:p>
          <a:p>
            <a:pPr lvl="1"/>
            <a:r>
              <a:rPr lang="en-IN" dirty="0"/>
              <a:t>Certain combinations occur frequently (like “</a:t>
            </a:r>
            <a:r>
              <a:rPr lang="en-IN" dirty="0" err="1"/>
              <a:t>th</a:t>
            </a:r>
            <a:r>
              <a:rPr lang="en-IN" dirty="0"/>
              <a:t>” in English).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ML approach</a:t>
            </a:r>
          </a:p>
          <a:p>
            <a:pPr lvl="1"/>
            <a:r>
              <a:rPr lang="en-IN" b="1" dirty="0"/>
              <a:t>Collect training data:</a:t>
            </a:r>
            <a:r>
              <a:rPr lang="en-IN" dirty="0"/>
              <a:t> Recordings of many people speaking words/sentences with their transcriptions.</a:t>
            </a:r>
          </a:p>
          <a:p>
            <a:pPr lvl="1"/>
            <a:r>
              <a:rPr lang="en-IN" b="1" dirty="0"/>
              <a:t>Feature extraction:</a:t>
            </a:r>
            <a:r>
              <a:rPr lang="en-IN" dirty="0"/>
              <a:t> Convert raw audio waves into features like frequency patterns (MFCCs).</a:t>
            </a:r>
          </a:p>
          <a:p>
            <a:pPr lvl="1"/>
            <a:r>
              <a:rPr lang="en-IN" b="1" dirty="0"/>
              <a:t>Model training:</a:t>
            </a:r>
            <a:r>
              <a:rPr lang="en-IN" dirty="0"/>
              <a:t> Train ML models (HMM, Deep Learning, RNNs, Transformers) to learn the mapping from sound → words.</a:t>
            </a:r>
          </a:p>
          <a:p>
            <a:pPr lvl="1"/>
            <a:r>
              <a:rPr lang="en-IN" b="1" dirty="0"/>
              <a:t>Prediction:</a:t>
            </a:r>
            <a:r>
              <a:rPr lang="en-IN" dirty="0"/>
              <a:t> When new audio is given, the model predicts the most likely sequence of words.</a:t>
            </a:r>
          </a:p>
          <a:p>
            <a:r>
              <a:rPr lang="en-IN" dirty="0"/>
              <a:t>Application</a:t>
            </a:r>
          </a:p>
          <a:p>
            <a:pPr lvl="1"/>
            <a:r>
              <a:rPr lang="en-IN" dirty="0"/>
              <a:t>Alexa, Siri, google Assistant</a:t>
            </a:r>
          </a:p>
          <a:p>
            <a:pPr lvl="1"/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572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1869-CD75-7FCA-7BC5-E6F238AF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1B64-1869-6197-6A79-0FFCCA4F3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Concepts:</a:t>
            </a:r>
            <a:endParaRPr lang="en-IN" dirty="0"/>
          </a:p>
          <a:p>
            <a:pPr lvl="1"/>
            <a:r>
              <a:rPr lang="en-IN" sz="2800" b="1" dirty="0"/>
              <a:t>Model:</a:t>
            </a:r>
            <a:r>
              <a:rPr lang="en-IN" sz="2800" dirty="0"/>
              <a:t> A representation of learned knowledge.</a:t>
            </a:r>
          </a:p>
          <a:p>
            <a:pPr lvl="1"/>
            <a:r>
              <a:rPr lang="en-IN" sz="2800" b="1" dirty="0"/>
              <a:t>Training:</a:t>
            </a:r>
            <a:r>
              <a:rPr lang="en-IN" sz="2800" dirty="0"/>
              <a:t> Process of fitting the model to data.</a:t>
            </a:r>
          </a:p>
          <a:p>
            <a:pPr lvl="1"/>
            <a:r>
              <a:rPr lang="en-IN" sz="2800" b="1" dirty="0"/>
              <a:t>Testing:</a:t>
            </a:r>
            <a:r>
              <a:rPr lang="en-IN" sz="2800" dirty="0"/>
              <a:t> Evaluating the model on unseen data.</a:t>
            </a:r>
          </a:p>
          <a:p>
            <a:pPr lvl="1"/>
            <a:r>
              <a:rPr lang="en-IN" sz="2800" b="1" dirty="0"/>
              <a:t>Features:</a:t>
            </a:r>
            <a:r>
              <a:rPr lang="en-IN" sz="2800" dirty="0"/>
              <a:t> Input variables used for learning.</a:t>
            </a:r>
          </a:p>
          <a:p>
            <a:pPr lvl="1"/>
            <a:r>
              <a:rPr lang="en-IN" sz="2800" b="1" dirty="0"/>
              <a:t>Labels/Targets:</a:t>
            </a:r>
            <a:r>
              <a:rPr lang="en-IN" sz="2800" dirty="0"/>
              <a:t> Output we want to </a:t>
            </a:r>
            <a:r>
              <a:rPr lang="en-IN" sz="2800"/>
              <a:t>predict.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8751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1CA1-1775-6DE5-6D97-56F5C4B2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F9557-E56E-DDFF-D8F4-72E68D222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Supervised Learning (Applications)</a:t>
            </a:r>
          </a:p>
          <a:p>
            <a:r>
              <a:rPr lang="en-US" dirty="0"/>
              <a:t>Classification(Algorithms)</a:t>
            </a:r>
          </a:p>
          <a:p>
            <a:r>
              <a:rPr lang="en-US" dirty="0"/>
              <a:t>Regression(Algorithms)</a:t>
            </a:r>
          </a:p>
          <a:p>
            <a:r>
              <a:rPr lang="en-US" dirty="0"/>
              <a:t>Unsupervised Learning(Applications and Algorithms)</a:t>
            </a:r>
          </a:p>
          <a:p>
            <a:r>
              <a:rPr lang="en-US" dirty="0"/>
              <a:t>Reinforcement learning(Applications and Algorithms)</a:t>
            </a:r>
          </a:p>
          <a:p>
            <a:r>
              <a:rPr lang="en-US" dirty="0"/>
              <a:t>Induction learning</a:t>
            </a:r>
          </a:p>
          <a:p>
            <a:r>
              <a:rPr lang="en-US" dirty="0"/>
              <a:t>Deductive Learning</a:t>
            </a:r>
          </a:p>
          <a:p>
            <a:r>
              <a:rPr lang="en-US" dirty="0"/>
              <a:t>Important terms- knowledge extraction, compression, outlier detection, density estimation, clustering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0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2C1F-B3E8-7F9A-8711-DAACFCD00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0AEBE-0707-DC03-C49A-E3EE8DB14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type of Machine Learning where the algorithm learns from </a:t>
            </a:r>
            <a:r>
              <a:rPr lang="en-IN" b="1" dirty="0"/>
              <a:t>labelled data.</a:t>
            </a:r>
          </a:p>
          <a:p>
            <a:r>
              <a:rPr lang="en-IN" b="1"/>
              <a:t>Labelled </a:t>
            </a:r>
            <a:r>
              <a:rPr lang="en-IN" b="1" dirty="0"/>
              <a:t>data </a:t>
            </a:r>
            <a:r>
              <a:rPr lang="en-IN" dirty="0"/>
              <a:t>= input (features) + output (target).</a:t>
            </a:r>
            <a:endParaRPr lang="en-IN" b="1" dirty="0"/>
          </a:p>
          <a:p>
            <a:r>
              <a:rPr lang="en-IN" b="1" dirty="0"/>
              <a:t>Goal: </a:t>
            </a:r>
            <a:r>
              <a:rPr lang="en-IN" dirty="0"/>
              <a:t>Learn a mapping from input → output.</a:t>
            </a:r>
          </a:p>
          <a:p>
            <a:r>
              <a:rPr lang="en-IN" dirty="0"/>
              <a:t>It involves training a model on a dataset that contains input features and corresponding output labels, allowing the model to learn the relationship between the inputs and outputs. </a:t>
            </a:r>
          </a:p>
          <a:p>
            <a:r>
              <a:rPr lang="en-IN" dirty="0"/>
              <a:t>The model learns from this labelled data to make predictions or classify </a:t>
            </a:r>
            <a:r>
              <a:rPr lang="en-IN" b="1" dirty="0"/>
              <a:t>new, unseen data accurately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95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BC0D-669B-508A-0A73-B9C3389D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Features &amp; Target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7C95A-5F07-C899-A4FA-D6DD69F3A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Input Features: </a:t>
            </a:r>
            <a:r>
              <a:rPr lang="en-IN" dirty="0"/>
              <a:t>These are the variables or attributes that describe the data. These are the </a:t>
            </a:r>
            <a:r>
              <a:rPr lang="en-IN" b="1" dirty="0"/>
              <a:t>independent variables</a:t>
            </a:r>
            <a:r>
              <a:rPr lang="en-IN" dirty="0"/>
              <a:t> or </a:t>
            </a:r>
            <a:r>
              <a:rPr lang="en-IN" b="1" dirty="0"/>
              <a:t>predictors</a:t>
            </a:r>
            <a:r>
              <a:rPr lang="en-IN" dirty="0"/>
              <a:t>.</a:t>
            </a:r>
          </a:p>
          <a:p>
            <a:r>
              <a:rPr lang="en-IN" dirty="0"/>
              <a:t>Can be numbers (age, marks, salary) or categories (gender, city, product type).</a:t>
            </a:r>
          </a:p>
          <a:p>
            <a:r>
              <a:rPr lang="en-IN" b="1" dirty="0"/>
              <a:t>Example: </a:t>
            </a:r>
            <a:r>
              <a:rPr lang="en-IN" dirty="0"/>
              <a:t>In a spam email detection system, the input features might include the </a:t>
            </a:r>
            <a:r>
              <a:rPr lang="en-IN" b="1" dirty="0"/>
              <a:t>sender's email address</a:t>
            </a:r>
            <a:r>
              <a:rPr lang="en-IN" dirty="0"/>
              <a:t>, </a:t>
            </a:r>
            <a:r>
              <a:rPr lang="en-IN" b="1" dirty="0"/>
              <a:t>subject line</a:t>
            </a:r>
            <a:r>
              <a:rPr lang="en-IN" dirty="0"/>
              <a:t>, and the </a:t>
            </a:r>
            <a:r>
              <a:rPr lang="en-IN" b="1" dirty="0"/>
              <a:t>content of the email</a:t>
            </a:r>
            <a:r>
              <a:rPr lang="en-IN" dirty="0"/>
              <a:t>. The algorithm uses these features to make predictions.</a:t>
            </a:r>
          </a:p>
          <a:p>
            <a:r>
              <a:rPr lang="en-IN" b="1" dirty="0"/>
              <a:t>Target Labels: </a:t>
            </a:r>
            <a:r>
              <a:rPr lang="en-IN" dirty="0"/>
              <a:t>These are the values we want the algorithm to predict or classify. These labels are provided as part of the training data. This is the </a:t>
            </a:r>
            <a:r>
              <a:rPr lang="en-IN" b="1" dirty="0"/>
              <a:t>dependent variable</a:t>
            </a:r>
            <a:r>
              <a:rPr lang="en-IN" dirty="0"/>
              <a:t> or </a:t>
            </a:r>
            <a:r>
              <a:rPr lang="en-IN" b="1" dirty="0"/>
              <a:t>output</a:t>
            </a:r>
            <a:r>
              <a:rPr lang="en-IN" dirty="0"/>
              <a:t>.</a:t>
            </a:r>
          </a:p>
          <a:p>
            <a:r>
              <a:rPr lang="en-IN" dirty="0"/>
              <a:t>It is what you want the model to </a:t>
            </a:r>
            <a:r>
              <a:rPr lang="en-IN" b="1" dirty="0"/>
              <a:t>predict</a:t>
            </a:r>
            <a:r>
              <a:rPr lang="en-IN" dirty="0"/>
              <a:t>. Usually just </a:t>
            </a:r>
            <a:r>
              <a:rPr lang="en-IN" b="1" dirty="0"/>
              <a:t>one column</a:t>
            </a:r>
            <a:r>
              <a:rPr lang="en-IN" dirty="0"/>
              <a:t> in your dataset.</a:t>
            </a:r>
          </a:p>
          <a:p>
            <a:r>
              <a:rPr lang="en-IN" b="1" dirty="0"/>
              <a:t>Example: </a:t>
            </a:r>
            <a:r>
              <a:rPr lang="en-IN" dirty="0"/>
              <a:t>In the case of spam email detection, the target labels would be binary: </a:t>
            </a:r>
            <a:r>
              <a:rPr lang="en-IN" b="1" dirty="0"/>
              <a:t>“spam” (1) </a:t>
            </a:r>
            <a:r>
              <a:rPr lang="en-IN" dirty="0"/>
              <a:t>or “</a:t>
            </a:r>
            <a:r>
              <a:rPr lang="en-IN" b="1" dirty="0"/>
              <a:t>not spam” (0)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96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6F27-0049-4D79-C44A-22C022D2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Features &amp; Target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40CA8-FDAE-3BF1-AD71-9B8A81069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During training </a:t>
            </a:r>
            <a:r>
              <a:rPr lang="en-IN" dirty="0"/>
              <a:t>→ model learns the relationship between </a:t>
            </a:r>
            <a:r>
              <a:rPr lang="en-IN" b="1" dirty="0"/>
              <a:t>features (X)</a:t>
            </a:r>
            <a:r>
              <a:rPr lang="en-IN" dirty="0"/>
              <a:t> and </a:t>
            </a:r>
            <a:r>
              <a:rPr lang="en-IN" b="1" dirty="0"/>
              <a:t>target (y)</a:t>
            </a:r>
            <a:r>
              <a:rPr lang="en-IN" dirty="0"/>
              <a:t>.</a:t>
            </a:r>
          </a:p>
          <a:p>
            <a:r>
              <a:rPr lang="en-IN" b="1" dirty="0"/>
              <a:t>During prediction </a:t>
            </a:r>
            <a:r>
              <a:rPr lang="en-IN" dirty="0"/>
              <a:t>→ you give only the </a:t>
            </a:r>
            <a:r>
              <a:rPr lang="en-IN" b="1" dirty="0"/>
              <a:t>features (X)</a:t>
            </a:r>
            <a:r>
              <a:rPr lang="en-IN" dirty="0"/>
              <a:t>, and the model predicts the </a:t>
            </a:r>
            <a:r>
              <a:rPr lang="en-IN" b="1" dirty="0"/>
              <a:t>target (y)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23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3DE0-4BF7-E723-94BD-D61D21FB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Supervised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BB516-F595-BA2F-4ECA-0DF775C3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535" y="1453243"/>
            <a:ext cx="6319157" cy="3135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6BB484-8D72-30DE-0831-8B0AC94DCC9C}"/>
              </a:ext>
            </a:extLst>
          </p:cNvPr>
          <p:cNvSpPr txBox="1"/>
          <p:nvPr/>
        </p:nvSpPr>
        <p:spPr>
          <a:xfrm>
            <a:off x="2922815" y="4392386"/>
            <a:ext cx="2041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labels</a:t>
            </a:r>
            <a:br>
              <a:rPr lang="en-US" dirty="0"/>
            </a:br>
            <a:r>
              <a:rPr lang="en-US" dirty="0"/>
              <a:t>Predicting 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42206-A56E-B29D-A969-5DDCA614EE50}"/>
              </a:ext>
            </a:extLst>
          </p:cNvPr>
          <p:cNvSpPr txBox="1"/>
          <p:nvPr/>
        </p:nvSpPr>
        <p:spPr>
          <a:xfrm>
            <a:off x="6406244" y="4392385"/>
            <a:ext cx="2835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Defined labels</a:t>
            </a:r>
            <a:br>
              <a:rPr lang="en-US" dirty="0"/>
            </a:br>
            <a:r>
              <a:rPr lang="en-US" dirty="0"/>
              <a:t>Predicting category/class</a:t>
            </a:r>
          </a:p>
        </p:txBody>
      </p:sp>
    </p:spTree>
    <p:extLst>
      <p:ext uri="{BB962C8B-B14F-4D97-AF65-F5344CB8AC3E}">
        <p14:creationId xmlns:p14="http://schemas.microsoft.com/office/powerpoint/2010/main" val="3572969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0797B-F0A4-9F2B-6136-5FA9B38F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15AF4-0D77-6787-67EA-9FFA7FEF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It is a type of supervised learning where the goal is to predict continuous values or numerical quantities.</a:t>
            </a:r>
          </a:p>
          <a:p>
            <a:r>
              <a:rPr lang="en-IN" dirty="0"/>
              <a:t>In regression tasks, the target labels are real numbers, and the model learns to map input features to a continuous output.</a:t>
            </a:r>
          </a:p>
          <a:p>
            <a:r>
              <a:rPr lang="en-IN" dirty="0"/>
              <a:t>Example problems: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Predicting </a:t>
            </a:r>
            <a:r>
              <a:rPr lang="en-IN" b="1" dirty="0"/>
              <a:t>house prices</a:t>
            </a:r>
            <a:r>
              <a:rPr lang="en-IN" dirty="0"/>
              <a:t> 🏠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Predicting </a:t>
            </a:r>
            <a:r>
              <a:rPr lang="en-IN" b="1" dirty="0"/>
              <a:t>temperature</a:t>
            </a:r>
            <a:r>
              <a:rPr lang="en-IN" dirty="0"/>
              <a:t> 🌡️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Predicting </a:t>
            </a:r>
            <a:r>
              <a:rPr lang="en-IN" b="1" dirty="0"/>
              <a:t>salary</a:t>
            </a:r>
            <a:r>
              <a:rPr lang="en-IN" dirty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Predicting </a:t>
            </a:r>
            <a:r>
              <a:rPr lang="en-IN" b="1" dirty="0"/>
              <a:t>stock prices</a:t>
            </a:r>
          </a:p>
          <a:p>
            <a:r>
              <a:rPr lang="en-IN" b="1" dirty="0"/>
              <a:t>Algorithms : </a:t>
            </a:r>
            <a:r>
              <a:rPr lang="en-IN" dirty="0"/>
              <a:t>Linear Regression, Polynomial Regression, Ridge/Lasso Regression,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658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F183-583A-BB6D-14F6-EC21363A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FCBA1-353F-BB52-A9E9-4C25E58E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600" dirty="0"/>
              <a:t>A type of supervised learning where the goal is to assign data points to predefined categories or classes.</a:t>
            </a:r>
          </a:p>
          <a:p>
            <a:r>
              <a:rPr lang="en-IN" sz="2600" dirty="0"/>
              <a:t>In classification tasks, the target labels are </a:t>
            </a:r>
            <a:r>
              <a:rPr lang="en-IN" sz="2600" b="1" dirty="0"/>
              <a:t>discrete </a:t>
            </a:r>
            <a:r>
              <a:rPr lang="en-IN" sz="2600" dirty="0"/>
              <a:t>and represent </a:t>
            </a:r>
            <a:r>
              <a:rPr lang="en-IN" sz="2600" b="1" dirty="0"/>
              <a:t>different classes or groups</a:t>
            </a:r>
            <a:r>
              <a:rPr lang="en-IN" sz="2400" dirty="0"/>
              <a:t>(like “yes/no” or “A/B/C”).</a:t>
            </a:r>
            <a:endParaRPr lang="en-IN" sz="2600" dirty="0"/>
          </a:p>
          <a:p>
            <a:r>
              <a:rPr lang="en-IN" sz="2600" dirty="0"/>
              <a:t>Types of classification</a:t>
            </a:r>
          </a:p>
          <a:p>
            <a:pPr lvl="1">
              <a:buFont typeface="Wingdings" pitchFamily="2" charset="2"/>
              <a:buChar char="Ø"/>
            </a:pPr>
            <a:r>
              <a:rPr lang="en-IN" sz="2600" dirty="0"/>
              <a:t>Binary classification- 2 classes – spam/not spam, fraud/not fraud</a:t>
            </a:r>
          </a:p>
          <a:p>
            <a:pPr lvl="1">
              <a:buFont typeface="Wingdings" pitchFamily="2" charset="2"/>
              <a:buChar char="Ø"/>
            </a:pPr>
            <a:r>
              <a:rPr lang="en-IN" sz="2600" dirty="0"/>
              <a:t>Multiclass-classification- more than 2 classes- classifying emails as spam, promotional, social, and primary.</a:t>
            </a:r>
          </a:p>
          <a:p>
            <a:r>
              <a:rPr lang="en-IN" sz="3000" dirty="0"/>
              <a:t>Examples: </a:t>
            </a:r>
          </a:p>
          <a:p>
            <a:pPr lvl="1">
              <a:buFont typeface="Wingdings" pitchFamily="2" charset="2"/>
              <a:buChar char="Ø"/>
            </a:pPr>
            <a:r>
              <a:rPr lang="en-IN" sz="2600" dirty="0"/>
              <a:t>D</a:t>
            </a:r>
            <a:r>
              <a:rPr lang="en-IN" dirty="0"/>
              <a:t>etermining if a customer review is "positive" or "negative”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Predicting if a patient has a disease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image recognition (identifying if an image contains a cat or a dog)</a:t>
            </a:r>
            <a:endParaRPr lang="en-IN" sz="2600" dirty="0"/>
          </a:p>
          <a:p>
            <a:r>
              <a:rPr lang="en-IN" sz="2600" b="1" dirty="0"/>
              <a:t>Algorithms: </a:t>
            </a:r>
            <a:r>
              <a:rPr lang="en-IN" sz="2600" dirty="0"/>
              <a:t>Logistic regression, support vector machines, decision trees, random forests, and neural networks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43547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8DBA-E881-70A6-E583-41511D8B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226AF-5208-AFD4-8396-14A7355BD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411"/>
            <a:ext cx="10515600" cy="4351338"/>
          </a:xfrm>
        </p:spPr>
        <p:txBody>
          <a:bodyPr>
            <a:normAutofit/>
          </a:bodyPr>
          <a:lstStyle/>
          <a:p>
            <a:r>
              <a:rPr lang="en-IN" sz="2000" dirty="0"/>
              <a:t>It is a type of ML in which an algorithm is trained on a dataset without the use of </a:t>
            </a:r>
            <a:r>
              <a:rPr lang="en-IN" sz="2000" dirty="0" err="1"/>
              <a:t>labeled</a:t>
            </a:r>
            <a:r>
              <a:rPr lang="en-IN" sz="2000" dirty="0"/>
              <a:t> examples(no supervisor).</a:t>
            </a:r>
          </a:p>
          <a:p>
            <a:r>
              <a:rPr lang="en-IN" sz="2000" dirty="0"/>
              <a:t> It is a type of learning that is based on the idea of discovering patterns in data, and is often used to extract features or to cluster data into groups.</a:t>
            </a:r>
          </a:p>
          <a:p>
            <a:r>
              <a:rPr lang="en-IN" sz="2000" b="1" dirty="0"/>
              <a:t>We don’t tell the model what to predict; it discovers patterns on its own.</a:t>
            </a:r>
          </a:p>
          <a:p>
            <a:r>
              <a:rPr lang="en-IN" sz="2000" dirty="0"/>
              <a:t>Example: Imagine you give a basket of </a:t>
            </a:r>
            <a:r>
              <a:rPr lang="en-IN" sz="2000" b="1" dirty="0"/>
              <a:t>mixed fruits</a:t>
            </a:r>
            <a:r>
              <a:rPr lang="en-IN" sz="2000" dirty="0"/>
              <a:t> 🍎🍌🍇🥭 to a machine, but you don’t tell it the fruit names.</a:t>
            </a:r>
          </a:p>
          <a:p>
            <a:r>
              <a:rPr lang="en-IN" sz="2000" dirty="0"/>
              <a:t>The machine groups similar fruits together (all apples in one group, all bananas in another, etc.).</a:t>
            </a:r>
          </a:p>
          <a:p>
            <a:r>
              <a:rPr lang="en-IN" sz="2000" dirty="0"/>
              <a:t>That’s </a:t>
            </a:r>
            <a:r>
              <a:rPr lang="en-IN" sz="2000" b="1" dirty="0"/>
              <a:t>unsupervised learning</a:t>
            </a:r>
            <a:r>
              <a:rPr lang="en-IN" sz="2000" dirty="0"/>
              <a:t> → discovering natural groupings.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EAAF4-6595-4C63-2381-A193282B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758" y="4725419"/>
            <a:ext cx="7788728" cy="208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16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B3C0F-F65C-EAA2-1683-08A2E061C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383"/>
            <a:ext cx="10515600" cy="4351338"/>
          </a:xfrm>
        </p:spPr>
        <p:txBody>
          <a:bodyPr/>
          <a:lstStyle/>
          <a:p>
            <a:r>
              <a:rPr lang="en-IN" b="1" dirty="0"/>
              <a:t>Density Estimation: </a:t>
            </a:r>
            <a:r>
              <a:rPr lang="en-IN" dirty="0"/>
              <a:t>the task of estimating the </a:t>
            </a:r>
            <a:r>
              <a:rPr lang="en-IN" b="1" dirty="0"/>
              <a:t>probability distribution</a:t>
            </a:r>
            <a:r>
              <a:rPr lang="en-IN" dirty="0"/>
              <a:t> that generated a dataset.</a:t>
            </a:r>
          </a:p>
          <a:p>
            <a:r>
              <a:rPr lang="en-IN" dirty="0"/>
              <a:t>Given data points, we want to figure out </a:t>
            </a:r>
            <a:r>
              <a:rPr lang="en-IN" b="1" dirty="0"/>
              <a:t>how the data is distributed</a:t>
            </a:r>
            <a:r>
              <a:rPr lang="en-IN" dirty="0"/>
              <a:t> (where data points are concentrated vs. sparse).</a:t>
            </a:r>
            <a:endParaRPr lang="en-IN" b="1" dirty="0"/>
          </a:p>
          <a:p>
            <a:r>
              <a:rPr lang="en-IN" dirty="0"/>
              <a:t>Two approaches: </a:t>
            </a:r>
            <a:r>
              <a:rPr lang="en-IN" b="1" dirty="0"/>
              <a:t>Parametric &amp;</a:t>
            </a:r>
            <a:r>
              <a:rPr lang="en-IN" dirty="0"/>
              <a:t> </a:t>
            </a:r>
            <a:r>
              <a:rPr lang="en-IN" b="1" dirty="0"/>
              <a:t>Non-parametric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B6FD65-B37D-3BC0-6745-4B4ABCE3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Unsupervised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634DC-1480-C392-281D-FF955EEBB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743" y="4001294"/>
            <a:ext cx="4445000" cy="281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5845D3-18C6-51B8-1B15-C04A35382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392" y="3953102"/>
            <a:ext cx="45085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88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DB6B-2467-0534-E45C-DDF1DC96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88475-17C3-0D2E-E5CF-EDCEDF4A4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537210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Clustering is the task of </a:t>
            </a:r>
            <a:r>
              <a:rPr lang="en-IN" b="1" dirty="0"/>
              <a:t>grouping data points</a:t>
            </a:r>
            <a:r>
              <a:rPr lang="en-IN" dirty="0"/>
              <a:t> such that: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Points in the </a:t>
            </a:r>
            <a:r>
              <a:rPr lang="en-IN" b="1" dirty="0"/>
              <a:t>same group (cluster)</a:t>
            </a:r>
            <a:r>
              <a:rPr lang="en-IN" dirty="0"/>
              <a:t> are </a:t>
            </a:r>
            <a:r>
              <a:rPr lang="en-IN" b="1" dirty="0"/>
              <a:t>more similar</a:t>
            </a:r>
            <a:r>
              <a:rPr lang="en-IN" dirty="0"/>
              <a:t> to each other.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Points in </a:t>
            </a:r>
            <a:r>
              <a:rPr lang="en-IN" b="1" dirty="0"/>
              <a:t>different groups</a:t>
            </a:r>
            <a:r>
              <a:rPr lang="en-IN" dirty="0"/>
              <a:t> are </a:t>
            </a:r>
            <a:r>
              <a:rPr lang="en-IN" b="1" dirty="0"/>
              <a:t>less similar</a:t>
            </a:r>
            <a:r>
              <a:rPr lang="en-IN" dirty="0"/>
              <a:t>.</a:t>
            </a:r>
            <a:endParaRPr lang="en-IN" b="1" dirty="0"/>
          </a:p>
          <a:p>
            <a:r>
              <a:rPr lang="en-IN" b="1" dirty="0"/>
              <a:t>Customer Segmentation</a:t>
            </a:r>
            <a:endParaRPr lang="en-IN" dirty="0"/>
          </a:p>
          <a:p>
            <a:pPr lvl="1">
              <a:buFont typeface="Wingdings" pitchFamily="2" charset="2"/>
              <a:buChar char="Ø"/>
            </a:pPr>
            <a:r>
              <a:rPr lang="en-IN" dirty="0"/>
              <a:t>Group customers with similar demographics/transactions.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Helps in targeted strategies (services/products).</a:t>
            </a:r>
          </a:p>
          <a:p>
            <a:r>
              <a:rPr lang="en-IN" dirty="0"/>
              <a:t>Algorithms like </a:t>
            </a:r>
            <a:r>
              <a:rPr lang="en-IN" b="1" dirty="0"/>
              <a:t>K-Means Clustering</a:t>
            </a:r>
            <a:r>
              <a:rPr lang="en-IN" dirty="0"/>
              <a:t> group customers with similar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dirty="0"/>
              <a:t>Features used can include: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Age, Gender, Location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Buying frequency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Amount spent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Types of products purchased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70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F5AD-D2DE-2FB4-AFF3-541B0ABA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7F3B-0233-470F-A7F1-8329CFB6E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Images often contain </a:t>
            </a:r>
            <a:r>
              <a:rPr lang="en-IN" b="1" dirty="0"/>
              <a:t>millions of pixels</a:t>
            </a:r>
            <a:r>
              <a:rPr lang="en-IN" dirty="0"/>
              <a:t> with slightly different </a:t>
            </a:r>
            <a:r>
              <a:rPr lang="en-IN" dirty="0" err="1"/>
              <a:t>colors</a:t>
            </a:r>
            <a:r>
              <a:rPr lang="en-IN" dirty="0"/>
              <a:t>.</a:t>
            </a:r>
          </a:p>
          <a:p>
            <a:r>
              <a:rPr lang="en-IN" b="1" dirty="0"/>
              <a:t>Input: </a:t>
            </a:r>
            <a:r>
              <a:rPr lang="en-IN" dirty="0"/>
              <a:t>pixels as RGB values.</a:t>
            </a:r>
          </a:p>
          <a:p>
            <a:r>
              <a:rPr lang="en-IN" dirty="0"/>
              <a:t>Compression = reducing the </a:t>
            </a:r>
            <a:r>
              <a:rPr lang="en-IN" b="1" dirty="0"/>
              <a:t>amount of data</a:t>
            </a:r>
            <a:r>
              <a:rPr lang="en-IN" dirty="0"/>
              <a:t> needed to store the image, while keeping it visually similar.</a:t>
            </a:r>
          </a:p>
          <a:p>
            <a:r>
              <a:rPr lang="en-IN" dirty="0"/>
              <a:t>Similar pixels grouped → represented by an average </a:t>
            </a:r>
            <a:r>
              <a:rPr lang="en-IN" dirty="0" err="1"/>
              <a:t>color</a:t>
            </a:r>
            <a:r>
              <a:rPr lang="en-IN" dirty="0"/>
              <a:t>.</a:t>
            </a:r>
          </a:p>
          <a:p>
            <a:r>
              <a:rPr lang="en-IN" b="1" dirty="0"/>
              <a:t>Example:</a:t>
            </a:r>
          </a:p>
          <a:p>
            <a:r>
              <a:rPr lang="en-IN" dirty="0"/>
              <a:t>Original image: 1,000,000 pixels, ~16 million possible </a:t>
            </a:r>
            <a:r>
              <a:rPr lang="en-IN" dirty="0" err="1"/>
              <a:t>colors</a:t>
            </a:r>
            <a:r>
              <a:rPr lang="en-IN" dirty="0"/>
              <a:t>.</a:t>
            </a:r>
          </a:p>
          <a:p>
            <a:r>
              <a:rPr lang="en-IN" dirty="0"/>
              <a:t>After clustering with k = 16:</a:t>
            </a:r>
          </a:p>
          <a:p>
            <a:pPr lvl="1"/>
            <a:r>
              <a:rPr lang="en-IN" dirty="0"/>
              <a:t>Only 16 representative </a:t>
            </a:r>
            <a:r>
              <a:rPr lang="en-IN" dirty="0" err="1"/>
              <a:t>colors</a:t>
            </a:r>
            <a:r>
              <a:rPr lang="en-IN" dirty="0"/>
              <a:t> are stored.</a:t>
            </a:r>
          </a:p>
          <a:p>
            <a:pPr lvl="1"/>
            <a:r>
              <a:rPr lang="en-IN" dirty="0"/>
              <a:t>Image looks almost the same, but file size is much smaller.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47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2C78-B904-FAFA-5371-6BFE6621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B9F3-BD38-6319-990B-5C01F10F9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Document clustering is the task of </a:t>
            </a:r>
            <a:r>
              <a:rPr lang="en-IN" b="1" dirty="0"/>
              <a:t>grouping documents (text data)</a:t>
            </a:r>
            <a:r>
              <a:rPr lang="en-IN" dirty="0"/>
              <a:t> into clusters such that: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Documents in the same cluster are </a:t>
            </a:r>
            <a:r>
              <a:rPr lang="en-IN" b="1" dirty="0"/>
              <a:t>similar in content</a:t>
            </a:r>
            <a:r>
              <a:rPr lang="en-IN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Documents in different clusters are </a:t>
            </a:r>
            <a:r>
              <a:rPr lang="en-IN" b="1" dirty="0"/>
              <a:t>dissimilar</a:t>
            </a:r>
            <a:r>
              <a:rPr lang="en-IN" dirty="0"/>
              <a:t>.</a:t>
            </a:r>
          </a:p>
          <a:p>
            <a:r>
              <a:rPr lang="en-IN" dirty="0"/>
              <a:t>Each document (e.g., news article, research paper, blog) is treated as a </a:t>
            </a:r>
            <a:r>
              <a:rPr lang="en-IN" b="1" dirty="0"/>
              <a:t>collection of words(bag of words)</a:t>
            </a:r>
            <a:r>
              <a:rPr lang="en-IN" dirty="0"/>
              <a:t>.</a:t>
            </a:r>
          </a:p>
          <a:p>
            <a:r>
              <a:rPr lang="en-IN" dirty="0"/>
              <a:t>Using text processing techniques, we convert documents into </a:t>
            </a:r>
            <a:r>
              <a:rPr lang="en-IN" b="1" dirty="0"/>
              <a:t>numerical feature vectors</a:t>
            </a:r>
            <a:r>
              <a:rPr lang="en-IN" dirty="0"/>
              <a:t>.</a:t>
            </a:r>
          </a:p>
          <a:p>
            <a:r>
              <a:rPr lang="en-IN" dirty="0"/>
              <a:t>Clustering algorithms (like </a:t>
            </a:r>
            <a:r>
              <a:rPr lang="en-IN" b="1" dirty="0"/>
              <a:t>K-Means</a:t>
            </a:r>
            <a:r>
              <a:rPr lang="en-IN" dirty="0"/>
              <a:t>) group documents based on word similarity.</a:t>
            </a:r>
          </a:p>
          <a:p>
            <a:r>
              <a:rPr lang="en-IN" dirty="0"/>
              <a:t>Example: Used for classifying news (politics, sports, fashion, etc.).</a:t>
            </a:r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07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75FA-EBC6-36F2-96B0-388329C3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1828C-4AF1-C760-D274-DDE96160D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a type of Machine Learning where an </a:t>
            </a:r>
            <a:r>
              <a:rPr lang="en-IN" b="1" dirty="0"/>
              <a:t>agent</a:t>
            </a:r>
            <a:r>
              <a:rPr lang="en-IN" dirty="0"/>
              <a:t> learns by interacting with an </a:t>
            </a:r>
            <a:r>
              <a:rPr lang="en-IN" b="1" dirty="0"/>
              <a:t>environment </a:t>
            </a:r>
            <a:r>
              <a:rPr lang="en-IN" dirty="0"/>
              <a:t>to make decisions through trial and error to maximize cumulative rewards.</a:t>
            </a:r>
          </a:p>
          <a:p>
            <a:r>
              <a:rPr lang="en-IN" dirty="0"/>
              <a:t>The agent takes actions → receives </a:t>
            </a:r>
            <a:r>
              <a:rPr lang="en-IN" b="1" dirty="0"/>
              <a:t>rewards or penalties</a:t>
            </a:r>
            <a:r>
              <a:rPr lang="en-IN" dirty="0"/>
              <a:t> → learns the best strategy (</a:t>
            </a:r>
            <a:r>
              <a:rPr lang="en-IN" b="1" dirty="0"/>
              <a:t>policy</a:t>
            </a:r>
            <a:r>
              <a:rPr lang="en-IN" dirty="0"/>
              <a:t>) to maximize long-term reward.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85AD5-FF44-4D73-638F-487EF43C1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442" y="3952308"/>
            <a:ext cx="5080000" cy="291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23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3342-2108-5659-9DFF-D1CFC8C1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122FF-1344-73FC-F3EC-654D52276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Key Concepts</a:t>
            </a:r>
          </a:p>
          <a:p>
            <a:r>
              <a:rPr lang="en-IN" b="1" dirty="0"/>
              <a:t>Agent</a:t>
            </a:r>
            <a:r>
              <a:rPr lang="en-IN" dirty="0"/>
              <a:t> → Learner/decision maker that performs action (robot, game player).</a:t>
            </a:r>
          </a:p>
          <a:p>
            <a:r>
              <a:rPr lang="en-IN" b="1" dirty="0"/>
              <a:t>Environment</a:t>
            </a:r>
            <a:r>
              <a:rPr lang="en-IN" dirty="0"/>
              <a:t> → The world the agent interacts with (game board, traffic system).</a:t>
            </a:r>
          </a:p>
          <a:p>
            <a:r>
              <a:rPr lang="en-IN" b="1" dirty="0"/>
              <a:t>Action</a:t>
            </a:r>
            <a:r>
              <a:rPr lang="en-IN" dirty="0"/>
              <a:t> → What the agent does/possible moves/ decision the agent makes</a:t>
            </a:r>
          </a:p>
          <a:p>
            <a:r>
              <a:rPr lang="en-IN" b="1" dirty="0"/>
              <a:t>State</a:t>
            </a:r>
            <a:r>
              <a:rPr lang="en-IN" dirty="0"/>
              <a:t> → Current situation/condition of the environment.</a:t>
            </a:r>
          </a:p>
          <a:p>
            <a:r>
              <a:rPr lang="en-IN" b="1" dirty="0"/>
              <a:t>Reward</a:t>
            </a:r>
            <a:r>
              <a:rPr lang="en-IN" dirty="0"/>
              <a:t> → Feedback (positive or negative) after an action.</a:t>
            </a:r>
          </a:p>
          <a:p>
            <a:r>
              <a:rPr lang="en-IN" b="1" dirty="0"/>
              <a:t>Policy</a:t>
            </a:r>
            <a:r>
              <a:rPr lang="en-IN" dirty="0"/>
              <a:t> → Strategy agent follows to decide next action based on current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21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51F6-C89B-DFF2-207A-DBCA3435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336E3-0DF1-86FC-DAE5-797A44737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Game Playing</a:t>
            </a:r>
            <a:endParaRPr lang="en-IN" b="1" dirty="0"/>
          </a:p>
          <a:p>
            <a:pPr lvl="1">
              <a:buFont typeface="Wingdings" pitchFamily="2" charset="2"/>
              <a:buChar char="Ø"/>
            </a:pPr>
            <a:r>
              <a:rPr lang="en-IN" dirty="0"/>
              <a:t>Example: Chess.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A single move is not important; the sequence of right moves (policy) is.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Easy to describe (simple rules).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Hard to play well (huge number of possible moves and strategies).</a:t>
            </a:r>
          </a:p>
          <a:p>
            <a:r>
              <a:rPr lang="en-IN" b="1" dirty="0"/>
              <a:t>Robot Navigation</a:t>
            </a:r>
            <a:endParaRPr lang="en-IN" dirty="0"/>
          </a:p>
          <a:p>
            <a:pPr lvl="1">
              <a:buFont typeface="Wingdings" pitchFamily="2" charset="2"/>
              <a:buChar char="Ø"/>
            </a:pPr>
            <a:r>
              <a:rPr lang="en-IN" dirty="0"/>
              <a:t>Robot learns the sequence of moves to reach a goal location.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Must avoid obstacles and minimize time.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Learning comes from repeated trial runs.</a:t>
            </a:r>
          </a:p>
          <a:p>
            <a:r>
              <a:rPr lang="en-IN" b="1" dirty="0"/>
              <a:t>Self-Driving Cars</a:t>
            </a:r>
            <a:endParaRPr lang="en-IN" dirty="0"/>
          </a:p>
          <a:p>
            <a:pPr lvl="1">
              <a:buFont typeface="Wingdings" pitchFamily="2" charset="2"/>
              <a:buChar char="Ø"/>
            </a:pPr>
            <a:r>
              <a:rPr lang="en-IN" dirty="0"/>
              <a:t>Car (agent) decides speed/steering.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Reward = safe driving, reaching the destination faster.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Penalty = accidents, traffic violations.</a:t>
            </a:r>
          </a:p>
          <a:p>
            <a:pPr lvl="1">
              <a:buFont typeface="Wingdings" pitchFamily="2" charset="2"/>
              <a:buChar char="Ø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936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6D37-152C-9A38-A55A-6FFAA15E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for Reinforcement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E06222-84D6-9AEB-5CDE-DD15E326F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414" y="1690688"/>
            <a:ext cx="9626600" cy="4051300"/>
          </a:xfrm>
        </p:spPr>
      </p:pic>
    </p:spTree>
    <p:extLst>
      <p:ext uri="{BB962C8B-B14F-4D97-AF65-F5344CB8AC3E}">
        <p14:creationId xmlns:p14="http://schemas.microsoft.com/office/powerpoint/2010/main" val="1594415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A9AA-6AF3-CEFD-3E01-A4ACC4DF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8B06D-5267-5330-55DA-48CF30DB9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Solves complex problems:</a:t>
            </a:r>
            <a:r>
              <a:rPr lang="en-IN" dirty="0"/>
              <a:t> RL can handle tasks too complex to program with fixed rules (e.g., self-driving cars, robotics).</a:t>
            </a:r>
          </a:p>
          <a:p>
            <a:r>
              <a:rPr lang="en-IN" b="1" dirty="0"/>
              <a:t>Adaptability: </a:t>
            </a:r>
            <a:r>
              <a:rPr lang="en-IN" dirty="0"/>
              <a:t>Can adapt to dynamic environments (e.g., traffic changes, stock markets), where outcomes are uncertain or change over time, making it highly useful for real-world applications.</a:t>
            </a:r>
          </a:p>
          <a:p>
            <a:r>
              <a:rPr lang="en-IN" b="1" dirty="0"/>
              <a:t>Error Correction:</a:t>
            </a:r>
            <a:r>
              <a:rPr lang="en-IN" dirty="0"/>
              <a:t> The model continuously learns from its environment and can correct errors that occur during the training process.</a:t>
            </a:r>
          </a:p>
          <a:p>
            <a:r>
              <a:rPr lang="en-IN" b="1" dirty="0"/>
              <a:t>No Need for </a:t>
            </a:r>
            <a:r>
              <a:rPr lang="en-IN" b="1" dirty="0" err="1"/>
              <a:t>Labeled</a:t>
            </a:r>
            <a:r>
              <a:rPr lang="en-IN" b="1" dirty="0"/>
              <a:t> Data: </a:t>
            </a:r>
            <a:r>
              <a:rPr lang="en-IN" dirty="0"/>
              <a:t>Unlike supervised learning, RL doesn’t need </a:t>
            </a:r>
            <a:r>
              <a:rPr lang="en-IN" dirty="0" err="1"/>
              <a:t>labeled</a:t>
            </a:r>
            <a:r>
              <a:rPr lang="en-IN" dirty="0"/>
              <a:t> input-output pairs. It learns from </a:t>
            </a:r>
            <a:r>
              <a:rPr lang="en-IN" b="1" dirty="0"/>
              <a:t>experience (rewards/penalties)</a:t>
            </a:r>
          </a:p>
          <a:p>
            <a:r>
              <a:rPr lang="en-IN" b="1" dirty="0"/>
              <a:t>Long-Term Optimization: </a:t>
            </a:r>
            <a:r>
              <a:rPr lang="en-IN" dirty="0"/>
              <a:t>Focuses on maximizing </a:t>
            </a:r>
            <a:r>
              <a:rPr lang="en-IN" b="1" dirty="0"/>
              <a:t>future cumulative reward</a:t>
            </a:r>
            <a:r>
              <a:rPr lang="en-IN" dirty="0"/>
              <a:t>, not just immediate outcomes.</a:t>
            </a:r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42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5D25-8047-1D7D-B9BB-EB011096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90CB7-A577-18F1-24D8-A09769213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High Computational Cost: </a:t>
            </a:r>
            <a:r>
              <a:rPr lang="en-IN" dirty="0"/>
              <a:t>Needs a lot of computing power (training AlphaGo took thousands of CPUs/GPUs)</a:t>
            </a:r>
          </a:p>
          <a:p>
            <a:r>
              <a:rPr lang="en-IN" b="1" dirty="0"/>
              <a:t>Time-Consuming: </a:t>
            </a:r>
            <a:r>
              <a:rPr lang="en-IN" dirty="0"/>
              <a:t>Learning by trial and error may take millions of interactions to converge.</a:t>
            </a:r>
          </a:p>
          <a:p>
            <a:r>
              <a:rPr lang="en-IN" b="1" dirty="0"/>
              <a:t>Dependency on Reward : </a:t>
            </a:r>
            <a:r>
              <a:rPr lang="en-IN" dirty="0"/>
              <a:t>If rewards are poorly designed, the agent may learn the </a:t>
            </a:r>
            <a:r>
              <a:rPr lang="en-IN" b="1" dirty="0"/>
              <a:t>wrong </a:t>
            </a:r>
            <a:r>
              <a:rPr lang="en-IN" b="1" dirty="0" err="1"/>
              <a:t>behavior</a:t>
            </a:r>
            <a:r>
              <a:rPr lang="en-IN" dirty="0"/>
              <a:t> (reward hacking).</a:t>
            </a:r>
          </a:p>
          <a:p>
            <a:r>
              <a:rPr lang="en-IN" b="1" dirty="0"/>
              <a:t>Not Always Stable: </a:t>
            </a:r>
            <a:r>
              <a:rPr lang="en-IN" dirty="0"/>
              <a:t>Training may be unstable and not guarantee optimal solutions.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209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51FF-1012-B326-A656-659BCAF8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to be revised at 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FD691-DFD6-C3EC-6346-56891C816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r>
              <a:rPr lang="en-IN" sz="1400" b="1" dirty="0"/>
              <a:t>Key Concepts</a:t>
            </a:r>
          </a:p>
          <a:p>
            <a:r>
              <a:rPr lang="en-IN" sz="1400" b="1" dirty="0"/>
              <a:t>Data</a:t>
            </a:r>
            <a:endParaRPr lang="en-IN" sz="1400" dirty="0"/>
          </a:p>
          <a:p>
            <a:pPr lvl="1"/>
            <a:r>
              <a:rPr lang="en-IN" sz="1400" dirty="0"/>
              <a:t>ML needs data (examples, past records).</a:t>
            </a:r>
          </a:p>
          <a:p>
            <a:pPr lvl="1"/>
            <a:r>
              <a:rPr lang="en-IN" sz="1400" dirty="0"/>
              <a:t>Types: structured (tables), unstructured (images, text, audio).</a:t>
            </a:r>
          </a:p>
          <a:p>
            <a:r>
              <a:rPr lang="en-IN" sz="1400" b="1" dirty="0"/>
              <a:t>Features and Labels</a:t>
            </a:r>
            <a:endParaRPr lang="en-IN" sz="1400" dirty="0"/>
          </a:p>
          <a:p>
            <a:pPr lvl="1"/>
            <a:r>
              <a:rPr lang="en-IN" sz="1400" b="1" dirty="0"/>
              <a:t>Features (X):</a:t>
            </a:r>
            <a:r>
              <a:rPr lang="en-IN" sz="1400" dirty="0"/>
              <a:t> Input variables (e.g., hours studied, size of house).</a:t>
            </a:r>
          </a:p>
          <a:p>
            <a:pPr lvl="1"/>
            <a:r>
              <a:rPr lang="en-IN" sz="1400" b="1" dirty="0"/>
              <a:t>Label/Target (y):</a:t>
            </a:r>
            <a:r>
              <a:rPr lang="en-IN" sz="1400" dirty="0"/>
              <a:t> Output variable we want to predict (e.g., exam marks, house price).</a:t>
            </a:r>
          </a:p>
          <a:p>
            <a:r>
              <a:rPr lang="en-IN" sz="1400" b="1" dirty="0"/>
              <a:t>Training vs. Testing</a:t>
            </a:r>
            <a:endParaRPr lang="en-IN" sz="1400" dirty="0"/>
          </a:p>
          <a:p>
            <a:pPr lvl="1"/>
            <a:r>
              <a:rPr lang="en-IN" sz="1400" b="1" dirty="0"/>
              <a:t>Training Data:</a:t>
            </a:r>
            <a:r>
              <a:rPr lang="en-IN" sz="1400" dirty="0"/>
              <a:t> Used to teach the model patterns.</a:t>
            </a:r>
          </a:p>
          <a:p>
            <a:pPr lvl="1"/>
            <a:r>
              <a:rPr lang="en-IN" sz="1400" b="1" dirty="0"/>
              <a:t>Testing Data:</a:t>
            </a:r>
            <a:r>
              <a:rPr lang="en-IN" sz="1400" dirty="0"/>
              <a:t> Used to evaluate how well the model generalizes to unseen data.</a:t>
            </a:r>
          </a:p>
          <a:p>
            <a:r>
              <a:rPr lang="en-IN" sz="1400" b="1" dirty="0"/>
              <a:t>Model</a:t>
            </a:r>
            <a:endParaRPr lang="en-IN" sz="1400" dirty="0"/>
          </a:p>
          <a:p>
            <a:pPr lvl="1"/>
            <a:r>
              <a:rPr lang="en-IN" sz="1400" dirty="0"/>
              <a:t>Mathematical representation of the relationship between inputs and outputs.</a:t>
            </a:r>
          </a:p>
          <a:p>
            <a:pPr lvl="1"/>
            <a:r>
              <a:rPr lang="en-IN" sz="1400" dirty="0"/>
              <a:t>Example: Linear Regression → y = mx + c.</a:t>
            </a:r>
          </a:p>
          <a:p>
            <a:r>
              <a:rPr lang="en-IN" sz="1400" b="1" dirty="0"/>
              <a:t>Learning Types</a:t>
            </a:r>
            <a:endParaRPr lang="en-IN" sz="1400" dirty="0"/>
          </a:p>
          <a:p>
            <a:pPr lvl="1"/>
            <a:r>
              <a:rPr lang="en-IN" sz="1400" b="1" dirty="0"/>
              <a:t>Supervised Learning:</a:t>
            </a:r>
            <a:r>
              <a:rPr lang="en-IN" sz="1400" dirty="0"/>
              <a:t> Learn from </a:t>
            </a:r>
            <a:r>
              <a:rPr lang="en-IN" sz="1400" dirty="0" err="1"/>
              <a:t>labeled</a:t>
            </a:r>
            <a:r>
              <a:rPr lang="en-IN" sz="1400" dirty="0"/>
              <a:t> data (e.g., predict house price).</a:t>
            </a:r>
          </a:p>
          <a:p>
            <a:pPr lvl="1"/>
            <a:r>
              <a:rPr lang="en-IN" sz="1400" b="1" dirty="0"/>
              <a:t>Unsupervised Learning:</a:t>
            </a:r>
            <a:r>
              <a:rPr lang="en-IN" sz="1400" dirty="0"/>
              <a:t> Find hidden patterns in </a:t>
            </a:r>
            <a:r>
              <a:rPr lang="en-IN" sz="1400" dirty="0" err="1"/>
              <a:t>unlabeled</a:t>
            </a:r>
            <a:r>
              <a:rPr lang="en-IN" sz="1400" dirty="0"/>
              <a:t> data (e.g., customer segmentation).</a:t>
            </a:r>
          </a:p>
          <a:p>
            <a:pPr lvl="1"/>
            <a:r>
              <a:rPr lang="en-IN" sz="1400" b="1" dirty="0"/>
              <a:t>Reinforcement Learning:</a:t>
            </a:r>
            <a:r>
              <a:rPr lang="en-IN" sz="1400" dirty="0"/>
              <a:t> Learn by trial-and-error with rewards (e.g., training a robot).</a:t>
            </a:r>
          </a:p>
          <a:p>
            <a:r>
              <a:rPr lang="en-IN" sz="1400" b="1" dirty="0"/>
              <a:t>Overfitting vs. Underfitting</a:t>
            </a:r>
            <a:endParaRPr lang="en-IN" sz="1400" dirty="0"/>
          </a:p>
          <a:p>
            <a:pPr lvl="1"/>
            <a:r>
              <a:rPr lang="en-IN" sz="1400" b="1" dirty="0"/>
              <a:t>Overfitting:</a:t>
            </a:r>
            <a:r>
              <a:rPr lang="en-IN" sz="1400" dirty="0"/>
              <a:t> Model learns training data too well, fails on new data.</a:t>
            </a:r>
          </a:p>
          <a:p>
            <a:pPr lvl="1"/>
            <a:r>
              <a:rPr lang="en-IN" sz="1400" b="1" dirty="0"/>
              <a:t>Underfitting:</a:t>
            </a:r>
            <a:r>
              <a:rPr lang="en-IN" sz="1400" dirty="0"/>
              <a:t> Model too simple, fails to capture patterns.</a:t>
            </a:r>
          </a:p>
          <a:p>
            <a:pPr lvl="1"/>
            <a:r>
              <a:rPr lang="en-IN" sz="1400" dirty="0"/>
              <a:t>Goal = </a:t>
            </a:r>
            <a:r>
              <a:rPr lang="en-IN" sz="1400" b="1" dirty="0"/>
              <a:t>Good Generalization</a:t>
            </a:r>
            <a:r>
              <a:rPr lang="en-IN" sz="1400" dirty="0"/>
              <a:t>.</a:t>
            </a:r>
          </a:p>
          <a:p>
            <a:r>
              <a:rPr lang="en-IN" sz="1400" b="1" dirty="0"/>
              <a:t>Evaluation Metrics</a:t>
            </a:r>
            <a:endParaRPr lang="en-IN" sz="1400" dirty="0"/>
          </a:p>
          <a:p>
            <a:pPr lvl="1"/>
            <a:r>
              <a:rPr lang="en-IN" sz="1400" dirty="0"/>
              <a:t>For </a:t>
            </a:r>
            <a:r>
              <a:rPr lang="en-IN" sz="1400" b="1" dirty="0"/>
              <a:t>regression:</a:t>
            </a:r>
            <a:r>
              <a:rPr lang="en-IN" sz="1400" dirty="0"/>
              <a:t> Mean Squared Error (MSE), R².</a:t>
            </a:r>
          </a:p>
          <a:p>
            <a:pPr lvl="1"/>
            <a:r>
              <a:rPr lang="en-IN" sz="1400" dirty="0"/>
              <a:t>For </a:t>
            </a:r>
            <a:r>
              <a:rPr lang="en-IN" sz="1400" b="1" dirty="0"/>
              <a:t>classification:</a:t>
            </a:r>
            <a:r>
              <a:rPr lang="en-IN" sz="1400" dirty="0"/>
              <a:t> Accuracy, Precision, Recall, F1-score.</a:t>
            </a:r>
          </a:p>
          <a:p>
            <a:r>
              <a:rPr lang="en-IN" sz="1400" b="1" dirty="0"/>
              <a:t>Algorithms</a:t>
            </a:r>
            <a:endParaRPr lang="en-IN" sz="1400" dirty="0"/>
          </a:p>
          <a:p>
            <a:pPr lvl="1"/>
            <a:r>
              <a:rPr lang="en-IN" sz="1400" dirty="0"/>
              <a:t>Linear Regression, Logistic Regression</a:t>
            </a:r>
          </a:p>
          <a:p>
            <a:pPr lvl="1"/>
            <a:r>
              <a:rPr lang="en-IN" sz="1400" dirty="0"/>
              <a:t>Decision Trees, Random Forests</a:t>
            </a:r>
          </a:p>
          <a:p>
            <a:pPr lvl="1"/>
            <a:r>
              <a:rPr lang="en-IN" sz="1400" dirty="0"/>
              <a:t>Support Vector Machines (SVM)</a:t>
            </a:r>
          </a:p>
          <a:p>
            <a:pPr lvl="1"/>
            <a:r>
              <a:rPr lang="en-IN" sz="1400" dirty="0"/>
              <a:t>Neural Networks, Deep Learning</a:t>
            </a:r>
          </a:p>
          <a:p>
            <a:r>
              <a:rPr lang="en-IN" sz="1400" b="1" dirty="0"/>
              <a:t>Applications</a:t>
            </a:r>
            <a:endParaRPr lang="en-IN" sz="1400" dirty="0"/>
          </a:p>
          <a:p>
            <a:pPr lvl="1"/>
            <a:r>
              <a:rPr lang="en-IN" sz="1400" dirty="0"/>
              <a:t>Recommendation Systems (Netflix, Amazon)</a:t>
            </a:r>
          </a:p>
          <a:p>
            <a:pPr lvl="1"/>
            <a:r>
              <a:rPr lang="en-IN" sz="1400" dirty="0"/>
              <a:t>Image &amp; Speech Recognition (Face ID, Alexa)</a:t>
            </a:r>
          </a:p>
          <a:p>
            <a:pPr lvl="1"/>
            <a:r>
              <a:rPr lang="en-IN" sz="1400" dirty="0"/>
              <a:t>Fraud Detection (Banking)</a:t>
            </a:r>
          </a:p>
          <a:p>
            <a:pPr lvl="1"/>
            <a:r>
              <a:rPr lang="en-IN" sz="1400" dirty="0"/>
              <a:t>Healthcare (disease prediction)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3945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710-FC54-A263-CF1B-EFE3E9D9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datasets for supervised/unsupervised/reinforcement learning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BF545-65EC-53B7-1F28-202572365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chatgpt.com</a:t>
            </a:r>
            <a:r>
              <a:rPr lang="en-US" dirty="0"/>
              <a:t>/c/68b1bc76-2998-8333-8891-0f24f2d8db49</a:t>
            </a:r>
          </a:p>
        </p:txBody>
      </p:sp>
    </p:spTree>
    <p:extLst>
      <p:ext uri="{BB962C8B-B14F-4D97-AF65-F5344CB8AC3E}">
        <p14:creationId xmlns:p14="http://schemas.microsoft.com/office/powerpoint/2010/main" val="1839410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7C8C-75DE-9B84-CA1A-61823332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42A9-AAE4-34DB-DF73-923B9937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scaling, feature</a:t>
            </a:r>
          </a:p>
          <a:p>
            <a:r>
              <a:rPr lang="en-US" dirty="0"/>
              <a:t>selection methods,</a:t>
            </a:r>
          </a:p>
          <a:p>
            <a:r>
              <a:rPr lang="en-US" dirty="0"/>
              <a:t>dimensionality reduction</a:t>
            </a:r>
          </a:p>
          <a:p>
            <a:r>
              <a:rPr lang="en-US" dirty="0"/>
              <a:t>(Principal Component</a:t>
            </a:r>
          </a:p>
          <a:p>
            <a:r>
              <a:rPr lang="en-US" dirty="0"/>
              <a:t>Analysis).</a:t>
            </a:r>
          </a:p>
        </p:txBody>
      </p:sp>
    </p:spTree>
    <p:extLst>
      <p:ext uri="{BB962C8B-B14F-4D97-AF65-F5344CB8AC3E}">
        <p14:creationId xmlns:p14="http://schemas.microsoft.com/office/powerpoint/2010/main" val="105005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12628</TotalTime>
  <Words>4204</Words>
  <Application>Microsoft Macintosh PowerPoint</Application>
  <PresentationFormat>Widescreen</PresentationFormat>
  <Paragraphs>475</Paragraphs>
  <Slides>33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Wingdings</vt:lpstr>
      <vt:lpstr>Office Theme</vt:lpstr>
      <vt:lpstr>Unit 1: Machine Learning</vt:lpstr>
      <vt:lpstr>What is Machine Learning?</vt:lpstr>
      <vt:lpstr>Definition of Machine Learning</vt:lpstr>
      <vt:lpstr>Example</vt:lpstr>
      <vt:lpstr>Example</vt:lpstr>
      <vt:lpstr>Example</vt:lpstr>
      <vt:lpstr>Example</vt:lpstr>
      <vt:lpstr>Traditional Programming vs ML</vt:lpstr>
      <vt:lpstr>Why do we need Machine Learning?</vt:lpstr>
      <vt:lpstr>Image recognition</vt:lpstr>
      <vt:lpstr>Speech Recognition</vt:lpstr>
      <vt:lpstr>Basic Concepts of ML</vt:lpstr>
      <vt:lpstr>Topics</vt:lpstr>
      <vt:lpstr>Supervised Learning</vt:lpstr>
      <vt:lpstr>Input Features &amp; Target Variables</vt:lpstr>
      <vt:lpstr>Input Features &amp; Target Variables</vt:lpstr>
      <vt:lpstr>Types of Supervised Learning</vt:lpstr>
      <vt:lpstr>Regression</vt:lpstr>
      <vt:lpstr>Classification</vt:lpstr>
      <vt:lpstr>Unsupervised Learning</vt:lpstr>
      <vt:lpstr>Unsupervised Learning</vt:lpstr>
      <vt:lpstr>Clustering</vt:lpstr>
      <vt:lpstr>Image Compression</vt:lpstr>
      <vt:lpstr>Document Clustering</vt:lpstr>
      <vt:lpstr>Reinforcement Learning</vt:lpstr>
      <vt:lpstr>Reinforcement Learning</vt:lpstr>
      <vt:lpstr>Applications</vt:lpstr>
      <vt:lpstr>Dataset for Reinforcement</vt:lpstr>
      <vt:lpstr>Advantages</vt:lpstr>
      <vt:lpstr>Disadvantages</vt:lpstr>
      <vt:lpstr>Key Concepts to be revised at the end</vt:lpstr>
      <vt:lpstr>Sample datasets for supervised/unsupervised/reinforcement learning problem</vt:lpstr>
      <vt:lpstr>Pre-processing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72</cp:revision>
  <dcterms:created xsi:type="dcterms:W3CDTF">2025-09-02T06:03:23Z</dcterms:created>
  <dcterms:modified xsi:type="dcterms:W3CDTF">2025-09-17T17:12:13Z</dcterms:modified>
</cp:coreProperties>
</file>